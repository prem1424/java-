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2" r:id="rId6"/>
    <p:sldId id="263" r:id="rId7"/>
    <p:sldId id="261" r:id="rId8"/>
    <p:sldId id="268" r:id="rId9"/>
    <p:sldId id="264" r:id="rId10"/>
    <p:sldId id="282" r:id="rId11"/>
    <p:sldId id="284" r:id="rId12"/>
    <p:sldId id="285" r:id="rId13"/>
    <p:sldId id="278" r:id="rId14"/>
    <p:sldId id="279" r:id="rId15"/>
    <p:sldId id="280" r:id="rId16"/>
    <p:sldId id="281" r:id="rId17"/>
    <p:sldId id="266" r:id="rId18"/>
    <p:sldId id="265" r:id="rId19"/>
    <p:sldId id="283" r:id="rId20"/>
    <p:sldId id="271" r:id="rId21"/>
    <p:sldId id="273" r:id="rId22"/>
    <p:sldId id="274" r:id="rId23"/>
    <p:sldId id="275" r:id="rId24"/>
    <p:sldId id="276" r:id="rId25"/>
    <p:sldId id="277" r:id="rId26"/>
  </p:sldIdLst>
  <p:sldSz cx="121935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E1EC3341-058E-4696-BD90-88CADCE61A63}"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Light"/>
              </a:rPr>
              <a:t>Click to edit the title text format</a:t>
            </a:r>
          </a:p>
        </p:txBody>
      </p:sp>
      <p:sp>
        <p:nvSpPr>
          <p:cNvPr id="6"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Click to edit the outline text format</a:t>
            </a:r>
          </a:p>
          <a:p>
            <a:pPr marL="685800" lvl="1"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Second Outline Level</a:t>
            </a:r>
          </a:p>
          <a:p>
            <a:pPr marL="1143000" lvl="2"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Third Outline Level</a:t>
            </a:r>
          </a:p>
          <a:p>
            <a:pPr marL="1600200" lvl="3"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Fourth Outline Level</a:t>
            </a:r>
          </a:p>
          <a:p>
            <a:pPr marL="2057400" lvl="4"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Fifth Outline Level</a:t>
            </a:r>
          </a:p>
          <a:p>
            <a:pPr marL="2057400" lvl="5"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Sixth Outline Level</a:t>
            </a:r>
          </a:p>
          <a:p>
            <a:pPr marL="2057400" lvl="6"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Seventh Outline Level</a:t>
            </a:r>
          </a:p>
        </p:txBody>
      </p:sp>
      <p:sp>
        <p:nvSpPr>
          <p:cNvPr id="2" name="PlaceHolder 3"/>
          <p:cNvSpPr>
            <a:spLocks noGrp="1"/>
          </p:cNvSpPr>
          <p:nvPr>
            <p:ph type="dt" idx="1"/>
          </p:nvPr>
        </p:nvSpPr>
        <p:spPr>
          <a:xfrm>
            <a:off x="838080" y="6356520"/>
            <a:ext cx="2743200" cy="3650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3" name="PlaceHolder 4"/>
          <p:cNvSpPr>
            <a:spLocks noGrp="1"/>
          </p:cNvSpPr>
          <p:nvPr>
            <p:ph type="ftr" idx="2"/>
          </p:nvPr>
        </p:nvSpPr>
        <p:spPr>
          <a:xfrm>
            <a:off x="4038480" y="6356520"/>
            <a:ext cx="411480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4" name="PlaceHolder 5"/>
          <p:cNvSpPr>
            <a:spLocks noGrp="1"/>
          </p:cNvSpPr>
          <p:nvPr>
            <p:ph type="sldNum" idx="3"/>
          </p:nvPr>
        </p:nvSpPr>
        <p:spPr>
          <a:xfrm>
            <a:off x="8610480" y="6356520"/>
            <a:ext cx="274320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C9E5AA5-4494-47CB-87E9-6EAD9C0F629A}" type="slidenum">
              <a:rPr lang="en-US" sz="1200" b="0" strike="noStrike" spc="-1">
                <a:solidFill>
                  <a:srgbClr val="898989"/>
                </a:solidFill>
                <a:latin typeface="Calibri"/>
              </a:rPr>
              <a:t>‹#›</a:t>
            </a:fld>
            <a:endParaRPr lang="en-US" sz="12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a:spLocks noGrp="1"/>
          </p:cNvSpPr>
          <p:nvPr>
            <p:ph type="title"/>
          </p:nvPr>
        </p:nvSpPr>
        <p:spPr>
          <a:xfrm>
            <a:off x="817560" y="2696760"/>
            <a:ext cx="10431360" cy="1033560"/>
          </a:xfrm>
          <a:prstGeom prst="rect">
            <a:avLst/>
          </a:prstGeom>
          <a:noFill/>
          <a:ln w="0">
            <a:noFill/>
          </a:ln>
        </p:spPr>
        <p:txBody>
          <a:bodyPr lIns="91440" tIns="45720" rIns="91440" bIns="45720" anchor="b">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strike="noStrike" spc="-1" dirty="0">
                <a:solidFill>
                  <a:srgbClr val="000000"/>
                </a:solidFill>
                <a:latin typeface="Times New Roman"/>
                <a:ea typeface="Times New Roman"/>
              </a:rPr>
              <a:t>Implementation of a Java-Based Virtual Classroom System</a:t>
            </a:r>
            <a:endParaRPr lang="en-US" sz="3600" b="0" strike="noStrike" spc="-1" dirty="0">
              <a:solidFill>
                <a:srgbClr val="000000"/>
              </a:solidFill>
              <a:latin typeface="Calibri Light"/>
            </a:endParaRPr>
          </a:p>
        </p:txBody>
      </p:sp>
      <p:sp>
        <p:nvSpPr>
          <p:cNvPr id="6" name="PlaceHolder 2"/>
          <p:cNvSpPr>
            <a:spLocks noGrp="1"/>
          </p:cNvSpPr>
          <p:nvPr>
            <p:ph type="subTitle"/>
          </p:nvPr>
        </p:nvSpPr>
        <p:spPr>
          <a:xfrm>
            <a:off x="349200" y="4246560"/>
            <a:ext cx="11414160" cy="2021040"/>
          </a:xfrm>
          <a:prstGeom prst="rect">
            <a:avLst/>
          </a:prstGeom>
          <a:noFill/>
          <a:ln w="0">
            <a:noFill/>
          </a:ln>
        </p:spPr>
        <p:txBody>
          <a:bodyPr lIns="91440" tIns="45720" rIns="91440" bIns="45720" anchor="t">
            <a:noAutofit/>
          </a:bodyPr>
          <a:lstStyle/>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Ch. Naga Sai Srikanth | Ch. Priyadarshini | B. Lahari Sri | N. Navya Sri Vasavi</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192311159 | 192311118 | 192421421 | 192411204</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CSA0927 - JAVA PROGRAMMING</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Course Faculty : </a:t>
            </a:r>
            <a:r>
              <a:rPr lang="en-US" sz="2200" b="0" strike="noStrike" spc="-1" dirty="0">
                <a:solidFill>
                  <a:srgbClr val="000000"/>
                </a:solidFill>
                <a:latin typeface="Times New Roman"/>
                <a:ea typeface="Times New Roman"/>
              </a:rPr>
              <a:t>Dr Pushpa Latha S, </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Times New Roman"/>
                <a:ea typeface="Times New Roman"/>
              </a:rPr>
              <a:t>SIMATS Engineering, SIMATS</a:t>
            </a:r>
            <a:endParaRPr lang="en-US" sz="1800" b="0" strike="noStrike" spc="-1" dirty="0">
              <a:solidFill>
                <a:srgbClr val="000000"/>
              </a:solidFill>
              <a:latin typeface="Calibri"/>
            </a:endParaRPr>
          </a:p>
        </p:txBody>
      </p:sp>
      <p:pic>
        <p:nvPicPr>
          <p:cNvPr id="7" name="image3.png" descr="C:\Users\ADMIN\AppData\Local\Microsoft\Windows\INetCache\Content.MSO\C29DB0A6.tmp"/>
          <p:cNvPicPr/>
          <p:nvPr/>
        </p:nvPicPr>
        <p:blipFill>
          <a:blip r:embed="rId2"/>
          <a:stretch/>
        </p:blipFill>
        <p:spPr>
          <a:xfrm>
            <a:off x="1027080" y="441360"/>
            <a:ext cx="10037880" cy="103032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AGENDA</a:t>
            </a:r>
            <a:endParaRPr lang="en-US" sz="4400" b="0" strike="noStrike" spc="-1">
              <a:solidFill>
                <a:srgbClr val="000000"/>
              </a:solidFill>
              <a:latin typeface="Calibri Light"/>
            </a:endParaRPr>
          </a:p>
        </p:txBody>
      </p:sp>
      <p:sp>
        <p:nvSpPr>
          <p:cNvPr id="9" name="TextBox 8"/>
          <p:cNvSpPr txBox="1"/>
          <p:nvPr/>
        </p:nvSpPr>
        <p:spPr>
          <a:xfrm>
            <a:off x="985564" y="1461407"/>
            <a:ext cx="10515600" cy="4351320"/>
          </a:xfrm>
          <a:prstGeom prst="rect">
            <a:avLst/>
          </a:prstGeom>
          <a:noFill/>
          <a:ln w="0">
            <a:noFill/>
          </a:ln>
        </p:spPr>
        <p:txBody>
          <a:bodyPr anchor="t">
            <a:noAutofit/>
          </a:bodyPr>
          <a:lstStyle/>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Abst</a:t>
            </a:r>
            <a:r>
              <a:rPr lang="en-US" spc="-1" dirty="0">
                <a:solidFill>
                  <a:srgbClr val="000000"/>
                </a:solidFill>
                <a:latin typeface="Times New Roman" panose="02020603050405020304" pitchFamily="18" charset="0"/>
                <a:ea typeface="Times New Roman"/>
                <a:cs typeface="Times New Roman" panose="02020603050405020304" pitchFamily="18" charset="0"/>
              </a:rPr>
              <a:t>ract</a:t>
            </a:r>
            <a:endParaRPr lang="en-US" b="0" strike="noStrike" spc="-1" dirty="0">
              <a:solidFill>
                <a:srgbClr val="000000"/>
              </a:solidFill>
              <a:latin typeface="Times New Roman" panose="02020603050405020304" pitchFamily="18" charset="0"/>
              <a:ea typeface="Times New Roman"/>
              <a:cs typeface="Times New Roman" panose="02020603050405020304" pitchFamily="18" charset="0"/>
            </a:endParaRP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Introduction</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Problem Statement</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Objectives</a:t>
            </a: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pc="-1" dirty="0">
                <a:solidFill>
                  <a:srgbClr val="000000"/>
                </a:solidFill>
                <a:latin typeface="Times New Roman" panose="02020603050405020304" pitchFamily="18" charset="0"/>
                <a:cs typeface="Times New Roman" panose="02020603050405020304" pitchFamily="18" charset="0"/>
              </a:rPr>
              <a:t>Literature Review</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Proposed Methodology and Modules</a:t>
            </a: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cs typeface="Times New Roman" panose="02020603050405020304" pitchFamily="18" charset="0"/>
              </a:rPr>
              <a:t>Architecture</a:t>
            </a: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cs typeface="Times New Roman" panose="02020603050405020304" pitchFamily="18" charset="0"/>
              </a:rPr>
              <a:t>Concepts are  used</a:t>
            </a: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cs typeface="Times New Roman" panose="02020603050405020304" pitchFamily="18" charset="0"/>
              </a:rPr>
              <a:t>Tools used</a:t>
            </a: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Results and Comparison</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b="0" strike="noStrike" spc="-1" dirty="0">
                <a:solidFill>
                  <a:srgbClr val="000000"/>
                </a:solidFill>
                <a:latin typeface="Times New Roman" panose="02020603050405020304" pitchFamily="18" charset="0"/>
                <a:ea typeface="Times New Roman"/>
                <a:cs typeface="Times New Roman" panose="02020603050405020304" pitchFamily="18" charset="0"/>
              </a:rPr>
              <a:t>Conclusion and Future Enhancements</a:t>
            </a:r>
          </a:p>
          <a:p>
            <a:pPr marL="228600" indent="-228600">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pc="-1" dirty="0">
                <a:solidFill>
                  <a:srgbClr val="000000"/>
                </a:solidFill>
                <a:latin typeface="Times New Roman" panose="02020603050405020304" pitchFamily="18" charset="0"/>
                <a:cs typeface="Times New Roman" panose="02020603050405020304" pitchFamily="18" charset="0"/>
              </a:rPr>
              <a:t>References</a:t>
            </a: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10" name="image3.png" descr="C:\Users\ADMIN\AppData\Local\Microsoft\Windows\INetCache\Content.MSO\C29DB0A6.tmp"/>
          <p:cNvPicPr/>
          <p:nvPr/>
        </p:nvPicPr>
        <p:blipFill>
          <a:blip r:embed="rId2"/>
          <a:stretch/>
        </p:blipFill>
        <p:spPr>
          <a:xfrm>
            <a:off x="2916360" y="52560"/>
            <a:ext cx="5313240" cy="544320"/>
          </a:xfrm>
          <a:prstGeom prst="rect">
            <a:avLst/>
          </a:prstGeom>
          <a:ln w="0">
            <a:noFill/>
          </a:ln>
        </p:spPr>
      </p:pic>
      <p:sp>
        <p:nvSpPr>
          <p:cNvPr id="13" name="Slide Number Placeholder 7"/>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09D761E-8329-4835-BF18-95BB4B4EBCFE}" type="slidenum">
              <a:rPr lang="en-US" sz="1200" b="0" strike="noStrike" spc="-1">
                <a:solidFill>
                  <a:srgbClr val="898989"/>
                </a:solidFill>
                <a:latin typeface="Calibri"/>
              </a:rPr>
              <a:t>2</a:t>
            </a:fld>
            <a:endParaRPr lang="en-US" sz="1200" b="0" strike="noStrike" spc="-1">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ABSTRACT</a:t>
            </a:r>
            <a:endParaRPr lang="en-US" sz="4400" b="0" strike="noStrike" spc="-1">
              <a:solidFill>
                <a:srgbClr val="000000"/>
              </a:solidFill>
              <a:latin typeface="Calibri Light"/>
            </a:endParaRPr>
          </a:p>
        </p:txBody>
      </p:sp>
      <p:sp>
        <p:nvSpPr>
          <p:cNvPr id="15" name="TextBox 14"/>
          <p:cNvSpPr txBox="1"/>
          <p:nvPr/>
        </p:nvSpPr>
        <p:spPr>
          <a:xfrm>
            <a:off x="838080" y="1825200"/>
            <a:ext cx="10515600" cy="4351320"/>
          </a:xfrm>
          <a:prstGeom prst="rect">
            <a:avLst/>
          </a:prstGeom>
          <a:noFill/>
          <a:ln w="0">
            <a:noFill/>
          </a:ln>
        </p:spPr>
        <p:txBody>
          <a:bodyPr anchor="t">
            <a:normAutofit/>
          </a:bodyPr>
          <a:lstStyle/>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The project implements a Java-based Virtual Classroom System for online teaching and learning.</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It provides secure, role-based access for Admin, Faculty, and Students.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Faculty can conduct live classes and share notes, PDFs, PPTs, and videos.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Students can submit assignments online and receive evaluation and feedback.</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The system stores attendance, marks, and academic records in a MySQL database.</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It improves accessibility, communication, and academic monitoring in a single platform.</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16" name="image3.png" descr="C:\Users\ADMIN\AppData\Local\Microsoft\Windows\INetCache\Content.MSO\C29DB0A6.tmp"/>
          <p:cNvPicPr/>
          <p:nvPr/>
        </p:nvPicPr>
        <p:blipFill>
          <a:blip r:embed="rId2"/>
          <a:stretch/>
        </p:blipFill>
        <p:spPr>
          <a:xfrm>
            <a:off x="2916360" y="52560"/>
            <a:ext cx="5313240" cy="544320"/>
          </a:xfrm>
          <a:prstGeom prst="rect">
            <a:avLst/>
          </a:prstGeom>
          <a:ln w="0">
            <a:noFill/>
          </a:ln>
        </p:spPr>
      </p:pic>
      <p:sp>
        <p:nvSpPr>
          <p:cNvPr id="17" name="Date Placeholder 5"/>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18" name="Footer Placeholder 6"/>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19" name="Slide Number Placeholder 7"/>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55D6202-8F63-4C4A-8F3B-B3625C51F73B}" type="slidenum">
              <a:rPr lang="en-US" sz="1200" b="0" strike="noStrike" spc="-1">
                <a:solidFill>
                  <a:srgbClr val="898989"/>
                </a:solidFill>
                <a:latin typeface="Calibri"/>
              </a:rPr>
              <a:t>3</a:t>
            </a:fld>
            <a:endParaRPr lang="en-US" sz="1200" b="0" strike="noStrike" spc="-1">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INTRODUCTION</a:t>
            </a:r>
            <a:endParaRPr lang="en-US" sz="4400" b="0" strike="noStrike" spc="-1">
              <a:solidFill>
                <a:srgbClr val="000000"/>
              </a:solidFill>
              <a:latin typeface="Calibri Light"/>
            </a:endParaRPr>
          </a:p>
        </p:txBody>
      </p:sp>
      <p:sp>
        <p:nvSpPr>
          <p:cNvPr id="21" name="TextBox 20"/>
          <p:cNvSpPr txBox="1"/>
          <p:nvPr/>
        </p:nvSpPr>
        <p:spPr>
          <a:xfrm>
            <a:off x="838080" y="1825200"/>
            <a:ext cx="10515600" cy="4351320"/>
          </a:xfrm>
          <a:prstGeom prst="rect">
            <a:avLst/>
          </a:prstGeom>
          <a:noFill/>
          <a:ln w="0">
            <a:noFill/>
          </a:ln>
        </p:spPr>
        <p:txBody>
          <a:bodyPr anchor="t">
            <a:normAutofit/>
          </a:bodyPr>
          <a:lstStyle/>
          <a:p>
            <a:pPr marL="342900" indent="-342900">
              <a:lnSpc>
                <a:spcPct val="13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A Virtual Classroom System is an online platform that supports teaching and learning through the internet.</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3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It enables students and faculty to interact without being physically present in the classroom.</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3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The system allows teachers to upload study materials and conduct online classes.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3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Java provides a secure, reliable, and platform-independent environment for developing the application.</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3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The system improves learning efficiency by integrating communication, assignments, and performance tracking.</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2900" indent="-342900">
              <a:lnSpc>
                <a:spcPct val="13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It reduces dependency on manual, paper-based academic processes.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22"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23"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24"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2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448985-7F26-40B8-BAAB-D8DD12FC24FC}" type="slidenum">
              <a:rPr lang="en-US" sz="1200" b="0" strike="noStrike" spc="-1">
                <a:solidFill>
                  <a:srgbClr val="898989"/>
                </a:solidFill>
                <a:latin typeface="Calibri"/>
              </a:rPr>
              <a:t>4</a:t>
            </a:fld>
            <a:endParaRPr lang="en-US" sz="1200" b="0" strike="noStrike" spc="-1">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PROBLEM STATEMENT</a:t>
            </a:r>
            <a:endParaRPr lang="en-US" sz="4400" b="0" strike="noStrike" spc="-1">
              <a:solidFill>
                <a:srgbClr val="000000"/>
              </a:solidFill>
              <a:latin typeface="Calibri Light"/>
            </a:endParaRPr>
          </a:p>
        </p:txBody>
      </p:sp>
      <p:sp>
        <p:nvSpPr>
          <p:cNvPr id="39" name="TextBox 38"/>
          <p:cNvSpPr txBox="1"/>
          <p:nvPr/>
        </p:nvSpPr>
        <p:spPr>
          <a:xfrm>
            <a:off x="838080" y="1825200"/>
            <a:ext cx="10515600" cy="4351320"/>
          </a:xfrm>
          <a:prstGeom prst="rect">
            <a:avLst/>
          </a:prstGeom>
          <a:noFill/>
          <a:ln w="0">
            <a:noFill/>
          </a:ln>
        </p:spPr>
        <p:txBody>
          <a:bodyPr anchor="t">
            <a:normAutofit/>
          </a:bodyPr>
          <a:lstStyle/>
          <a:p>
            <a:pPr marL="457200" indent="-457200">
              <a:lnSpc>
                <a:spcPct val="130000"/>
              </a:lnSpc>
              <a:spcBef>
                <a:spcPts val="1001"/>
              </a:spcBef>
              <a:buClr>
                <a:srgbClr val="000000"/>
              </a:buClr>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Traditional classroom systems depend heavily on manual processes.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Managing attendance and assignments consumes significant time and effort.</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Students have limited access to learning resources outside classroom hours.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Communication between teachers and students is often delayed or unorganized.</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Manual record maintenance increases the possibility of errors and data loss.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An online system is needed to simplify academic activities and improve accessibility.</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40"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41"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42"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43"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8BD7F3A-CD0A-4801-82DB-A8E127857808}" type="slidenum">
              <a:rPr lang="en-US" sz="1200" b="0" strike="noStrike" spc="-1">
                <a:solidFill>
                  <a:srgbClr val="898989"/>
                </a:solidFill>
                <a:latin typeface="Calibri"/>
              </a:rPr>
              <a:t>5</a:t>
            </a:fld>
            <a:endParaRPr lang="en-US" sz="1200" b="0" strike="noStrike" spc="-1">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strike="noStrike" spc="-1">
                <a:solidFill>
                  <a:srgbClr val="000000"/>
                </a:solidFill>
                <a:latin typeface="Times New Roman"/>
                <a:ea typeface="Times New Roman"/>
              </a:rPr>
              <a:t>OBJECTIVES OF THE PROJECT</a:t>
            </a:r>
            <a:endParaRPr lang="en-US" sz="3600" b="0" strike="noStrike" spc="-1">
              <a:solidFill>
                <a:srgbClr val="000000"/>
              </a:solidFill>
              <a:latin typeface="Calibri Light"/>
            </a:endParaRPr>
          </a:p>
        </p:txBody>
      </p:sp>
      <p:sp>
        <p:nvSpPr>
          <p:cNvPr id="45" name="TextBox 44"/>
          <p:cNvSpPr txBox="1"/>
          <p:nvPr/>
        </p:nvSpPr>
        <p:spPr>
          <a:xfrm>
            <a:off x="838080" y="1825200"/>
            <a:ext cx="10515600" cy="4351320"/>
          </a:xfrm>
          <a:prstGeom prst="rect">
            <a:avLst/>
          </a:prstGeom>
          <a:noFill/>
          <a:ln w="0">
            <a:noFill/>
          </a:ln>
        </p:spPr>
        <p:txBody>
          <a:bodyPr anchor="t">
            <a:normAutofit/>
          </a:bodyPr>
          <a:lstStyle/>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To develop a secure Java-Based Virtual Classroom System for online teaching and learning.</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To implement User Management and Authentication for registration, login, and role-based access.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To provide Live Session and Content Sharing for virtual classes and learning resources.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To implement Assignment Submission and Evaluation with grading and feedback.</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To generate Reports on attendance, assignments, and student performance.</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To enable Group Discussion for collaborative learning among students.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46"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47"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/2025</a:t>
            </a:r>
            <a:endParaRPr lang="en-US" sz="1200" b="0" strike="noStrike" spc="-1">
              <a:solidFill>
                <a:srgbClr val="000000"/>
              </a:solidFill>
              <a:latin typeface="Calibri"/>
            </a:endParaRPr>
          </a:p>
        </p:txBody>
      </p:sp>
      <p:sp>
        <p:nvSpPr>
          <p:cNvPr id="48"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49"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BA5AE79-F9C0-41AF-9B8C-031BCD931C94}" type="slidenum">
              <a:rPr lang="en-US" sz="1200" b="0" strike="noStrike" spc="-1">
                <a:solidFill>
                  <a:srgbClr val="898989"/>
                </a:solidFill>
                <a:latin typeface="Calibri"/>
              </a:rPr>
              <a:t>6</a:t>
            </a:fld>
            <a:endParaRPr lang="en-US" sz="1200" b="0" strike="noStrike" spc="-1">
              <a:solidFill>
                <a:srgbClr val="0000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665280"/>
            <a:ext cx="10515600" cy="66672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strike="noStrike" spc="-1">
                <a:solidFill>
                  <a:srgbClr val="000000"/>
                </a:solidFill>
                <a:latin typeface="Times New Roman"/>
                <a:ea typeface="Times New Roman"/>
              </a:rPr>
              <a:t>LITERATURE REVIEW </a:t>
            </a:r>
            <a:endParaRPr lang="en-US" sz="4000" b="0" strike="noStrike" spc="-1">
              <a:solidFill>
                <a:srgbClr val="000000"/>
              </a:solidFill>
              <a:latin typeface="Calibri Light"/>
            </a:endParaRPr>
          </a:p>
        </p:txBody>
      </p:sp>
      <p:pic>
        <p:nvPicPr>
          <p:cNvPr id="33" name="image3.png" descr="C:\Users\ADMIN\AppData\Local\Microsoft\Windows\INetCache\Content.MSO\C29DB0A6.tmp"/>
          <p:cNvPicPr/>
          <p:nvPr/>
        </p:nvPicPr>
        <p:blipFill>
          <a:blip r:embed="rId2"/>
          <a:stretch/>
        </p:blipFill>
        <p:spPr>
          <a:xfrm>
            <a:off x="2976480" y="52560"/>
            <a:ext cx="5313600" cy="544320"/>
          </a:xfrm>
          <a:prstGeom prst="rect">
            <a:avLst/>
          </a:prstGeom>
          <a:ln w="0">
            <a:noFill/>
          </a:ln>
        </p:spPr>
      </p:pic>
      <p:graphicFrame>
        <p:nvGraphicFramePr>
          <p:cNvPr id="34" name="Table 33"/>
          <p:cNvGraphicFramePr/>
          <p:nvPr/>
        </p:nvGraphicFramePr>
        <p:xfrm>
          <a:off x="708120" y="1400000"/>
          <a:ext cx="10917000" cy="4014400"/>
        </p:xfrm>
        <a:graphic>
          <a:graphicData uri="http://schemas.openxmlformats.org/drawingml/2006/table">
            <a:tbl>
              <a:tblPr/>
              <a:tblGrid>
                <a:gridCol w="1119240">
                  <a:extLst>
                    <a:ext uri="{9D8B030D-6E8A-4147-A177-3AD203B41FA5}">
                      <a16:colId xmlns:a16="http://schemas.microsoft.com/office/drawing/2014/main" val="20000"/>
                    </a:ext>
                  </a:extLst>
                </a:gridCol>
                <a:gridCol w="3247920">
                  <a:extLst>
                    <a:ext uri="{9D8B030D-6E8A-4147-A177-3AD203B41FA5}">
                      <a16:colId xmlns:a16="http://schemas.microsoft.com/office/drawing/2014/main" val="20001"/>
                    </a:ext>
                  </a:extLst>
                </a:gridCol>
                <a:gridCol w="2182680">
                  <a:extLst>
                    <a:ext uri="{9D8B030D-6E8A-4147-A177-3AD203B41FA5}">
                      <a16:colId xmlns:a16="http://schemas.microsoft.com/office/drawing/2014/main" val="20002"/>
                    </a:ext>
                  </a:extLst>
                </a:gridCol>
                <a:gridCol w="2184480">
                  <a:extLst>
                    <a:ext uri="{9D8B030D-6E8A-4147-A177-3AD203B41FA5}">
                      <a16:colId xmlns:a16="http://schemas.microsoft.com/office/drawing/2014/main" val="20003"/>
                    </a:ext>
                  </a:extLst>
                </a:gridCol>
                <a:gridCol w="2182680">
                  <a:extLst>
                    <a:ext uri="{9D8B030D-6E8A-4147-A177-3AD203B41FA5}">
                      <a16:colId xmlns:a16="http://schemas.microsoft.com/office/drawing/2014/main" val="20004"/>
                    </a:ext>
                  </a:extLst>
                </a:gridCol>
              </a:tblGrid>
              <a:tr h="900000">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strike="noStrike" spc="-1">
                          <a:solidFill>
                            <a:srgbClr val="000000"/>
                          </a:solidFill>
                          <a:latin typeface="Times New Roman"/>
                          <a:ea typeface="Times New Roman"/>
                        </a:rPr>
                        <a:t>S.NO</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F4B183"/>
                    </a:solidFill>
                  </a:tcPr>
                </a:tc>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strike="noStrike" spc="-1">
                          <a:solidFill>
                            <a:srgbClr val="000000"/>
                          </a:solidFill>
                          <a:latin typeface="Times New Roman"/>
                          <a:ea typeface="Times New Roman"/>
                        </a:rPr>
                        <a:t>DETAILS OF THE JOURNAL</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F4B183"/>
                    </a:solidFill>
                  </a:tcPr>
                </a:tc>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strike="noStrike" spc="-1">
                          <a:solidFill>
                            <a:srgbClr val="000000"/>
                          </a:solidFill>
                          <a:latin typeface="Times New Roman"/>
                          <a:ea typeface="Times New Roman"/>
                        </a:rPr>
                        <a:t>ALGORITHM / METHODOLOGY USED</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F4B183"/>
                    </a:solidFill>
                  </a:tcPr>
                </a:tc>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strike="noStrike" spc="-1" dirty="0">
                          <a:solidFill>
                            <a:srgbClr val="000000"/>
                          </a:solidFill>
                          <a:latin typeface="Times New Roman"/>
                          <a:ea typeface="Times New Roman"/>
                        </a:rPr>
                        <a:t>ADVANTAGES</a:t>
                      </a:r>
                      <a:endParaRPr lang="en-US" sz="1800" b="0" strike="noStrike" spc="-1" dirty="0">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F4B183"/>
                    </a:solidFill>
                  </a:tcPr>
                </a:tc>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strike="noStrike" spc="-1">
                          <a:solidFill>
                            <a:srgbClr val="000000"/>
                          </a:solidFill>
                          <a:latin typeface="Times New Roman"/>
                          <a:ea typeface="Times New Roman"/>
                        </a:rPr>
                        <a:t>DIS ADVANTAGES</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18720">
                      <a:solidFill>
                        <a:srgbClr val="FFFFFF"/>
                      </a:solidFill>
                      <a:prstDash val="solid"/>
                    </a:lnB>
                    <a:solidFill>
                      <a:srgbClr val="F4B183"/>
                    </a:solidFill>
                  </a:tcPr>
                </a:tc>
                <a:extLst>
                  <a:ext uri="{0D108BD9-81ED-4DB2-BD59-A6C34878D82A}">
                    <a16:rowId xmlns:a16="http://schemas.microsoft.com/office/drawing/2014/main" val="10000"/>
                  </a:ext>
                </a:extLst>
              </a:tr>
              <a:tr h="620000">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000000"/>
                          </a:solidFill>
                          <a:latin typeface="Times New Roman"/>
                          <a:ea typeface="Times New Roman"/>
                        </a:rPr>
                        <a:t>1</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1872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Web-Based Virtual Classroom System - IOSR Journal of Research &amp; Method in Education, 2014</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1872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JavaScript, MySQL, PHP, WAMP Server, Moodle and Elluminate for shared collaboration</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1872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Enables real-time group collaboration between remote students and tutors</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1872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Limited bandwidth lowers audio/video quality and session feedback</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18720">
                      <a:solidFill>
                        <a:srgbClr val="FFFFFF"/>
                      </a:solidFill>
                      <a:prstDash val="solid"/>
                    </a:lnT>
                    <a:lnB w="5760">
                      <a:solidFill>
                        <a:srgbClr val="FFFFFF"/>
                      </a:solidFill>
                      <a:prstDash val="solid"/>
                    </a:lnB>
                    <a:solidFill>
                      <a:srgbClr val="F4B183"/>
                    </a:solidFill>
                  </a:tcPr>
                </a:tc>
                <a:extLst>
                  <a:ext uri="{0D108BD9-81ED-4DB2-BD59-A6C34878D82A}">
                    <a16:rowId xmlns:a16="http://schemas.microsoft.com/office/drawing/2014/main" val="10001"/>
                  </a:ext>
                </a:extLst>
              </a:tr>
              <a:tr h="620000">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000000"/>
                          </a:solidFill>
                          <a:latin typeface="Times New Roman"/>
                          <a:ea typeface="Times New Roman"/>
                        </a:rPr>
                        <a:t>2</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Functional Requirements Analysis and Design of a J2EE Compliant Virtual Classroom Web App</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J2EE three-tier architecture using Spring, JSF and Hibernate frameworks</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Modular, configurable architecture supporting rapid application development</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Acts only as a supplement to classroom teaching, not a full replacement</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extLst>
                  <a:ext uri="{0D108BD9-81ED-4DB2-BD59-A6C34878D82A}">
                    <a16:rowId xmlns:a16="http://schemas.microsoft.com/office/drawing/2014/main" val="10002"/>
                  </a:ext>
                </a:extLst>
              </a:tr>
              <a:tr h="620000">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000000"/>
                          </a:solidFill>
                          <a:latin typeface="Times New Roman"/>
                          <a:ea typeface="Times New Roman"/>
                        </a:rPr>
                        <a:t>3</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A Java-Based Virtual Classroom for Continuous Learning in Enterprises - ResearchGate</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HTML/Java system for management, delivery and consultation of courses</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Supports continuous learning and structured course delivery for training</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Designed mainly for enterprise training, limiting general classroom use</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extLst>
                  <a:ext uri="{0D108BD9-81ED-4DB2-BD59-A6C34878D82A}">
                    <a16:rowId xmlns:a16="http://schemas.microsoft.com/office/drawing/2014/main" val="10003"/>
                  </a:ext>
                </a:extLst>
              </a:tr>
              <a:tr h="620000">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000000"/>
                          </a:solidFill>
                          <a:latin typeface="Times New Roman"/>
                          <a:ea typeface="Times New Roman"/>
                        </a:rPr>
                        <a:t>4</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Design and Implementation of a Virtual Classroom System - ResearchGate</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Moodle, WAMP Server, JavaScript, MySQL and PHP based LMS</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Aims to support LMS deployment in regions with limited infrastructure</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Collaborative work quality is constrained by network/bandwidth limits</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extLst>
                  <a:ext uri="{0D108BD9-81ED-4DB2-BD59-A6C34878D82A}">
                    <a16:rowId xmlns:a16="http://schemas.microsoft.com/office/drawing/2014/main" val="10004"/>
                  </a:ext>
                </a:extLst>
              </a:tr>
              <a:tr h="620000">
                <a:tc>
                  <a:txBody>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strike="noStrike" spc="-1">
                          <a:solidFill>
                            <a:srgbClr val="000000"/>
                          </a:solidFill>
                          <a:latin typeface="Times New Roman"/>
                          <a:ea typeface="Times New Roman"/>
                        </a:rPr>
                        <a:t>5</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Virtual Classroom - Gurukul International Research Journal</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Java-based system designed and evaluated for interactive remote learning</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a:solidFill>
                            <a:srgbClr val="000000"/>
                          </a:solidFill>
                          <a:latin typeface="Times New Roman"/>
                        </a:rPr>
                        <a:t>Provides an interactive platform suited to rising remote-learning demand</a:t>
                      </a:r>
                      <a:endParaRPr lang="en-US" sz="1800" b="0" strike="noStrike" spc="-1">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tc>
                  <a:txBody>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100" b="0" dirty="0">
                          <a:solidFill>
                            <a:srgbClr val="000000"/>
                          </a:solidFill>
                          <a:latin typeface="Times New Roman"/>
                        </a:rPr>
                        <a:t>Evaluation scope is limited, so broader scalability needs more testing</a:t>
                      </a:r>
                      <a:endParaRPr lang="en-US" sz="1800" b="0" strike="noStrike" spc="-1" dirty="0">
                        <a:solidFill>
                          <a:srgbClr val="000000"/>
                        </a:solidFill>
                        <a:latin typeface="Calibri"/>
                      </a:endParaRPr>
                    </a:p>
                  </a:txBody>
                  <a:tcPr>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F4B183"/>
                    </a:solidFill>
                  </a:tcPr>
                </a:tc>
                <a:extLst>
                  <a:ext uri="{0D108BD9-81ED-4DB2-BD59-A6C34878D82A}">
                    <a16:rowId xmlns:a16="http://schemas.microsoft.com/office/drawing/2014/main" val="10005"/>
                  </a:ext>
                </a:extLst>
              </a:tr>
            </a:tbl>
          </a:graphicData>
        </a:graphic>
      </p:graphicFrame>
      <p:sp>
        <p:nvSpPr>
          <p:cNvPr id="35" name="Date Placeholder 6"/>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36" name="Footer Placeholder 7"/>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37" name="Slide Number Placeholder 8"/>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80CDAD0-05C3-40B6-A3F8-4A3349CB29B6}" type="slidenum">
              <a:rPr lang="en-US" sz="1200" b="0" strike="noStrike" spc="-1">
                <a:solidFill>
                  <a:srgbClr val="898989"/>
                </a:solidFill>
                <a:latin typeface="Calibri"/>
              </a:rPr>
              <a:t>7</a:t>
            </a:fld>
            <a:endParaRPr lang="en-US" sz="1200" b="0" strike="noStrike" spc="-1">
              <a:solidFill>
                <a:srgbClr val="0000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STEPS OF PROPOSED METHODOLOGY</a:t>
            </a:r>
            <a:endParaRPr lang="en-US" sz="4400" b="0" strike="noStrike" spc="-1">
              <a:solidFill>
                <a:srgbClr val="000000"/>
              </a:solidFill>
              <a:latin typeface="Calibri Light"/>
            </a:endParaRPr>
          </a:p>
        </p:txBody>
      </p:sp>
      <p:sp>
        <p:nvSpPr>
          <p:cNvPr id="74" name="TextBox 73"/>
          <p:cNvSpPr txBox="1"/>
          <p:nvPr/>
        </p:nvSpPr>
        <p:spPr>
          <a:xfrm>
            <a:off x="838080" y="1825200"/>
            <a:ext cx="10515600" cy="4351320"/>
          </a:xfrm>
          <a:prstGeom prst="rect">
            <a:avLst/>
          </a:prstGeom>
          <a:noFill/>
          <a:ln w="0">
            <a:noFill/>
          </a:ln>
        </p:spPr>
        <p:txBody>
          <a:bodyPr anchor="t">
            <a:normAutofit/>
          </a:bodyPr>
          <a:lstStyle/>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Develop a centralized Java-based Virtual Classroom System.</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Allow secure login with role-based access for different users.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Conduct online classes and share learning materials digitally.</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Enable online assignment submission and automated evaluation.</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Store attendance, marks, and academic records in a MySQL database.</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Provide dashboards for easy monitoring of academic activities.</a:t>
            </a:r>
            <a:endParaRPr lang="en-US" sz="2000" b="0" strike="noStrike" spc="-1">
              <a:solidFill>
                <a:srgbClr val="000000"/>
              </a:solidFill>
              <a:latin typeface="Calibri"/>
            </a:endParaRPr>
          </a:p>
        </p:txBody>
      </p:sp>
      <p:pic>
        <p:nvPicPr>
          <p:cNvPr id="75"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76"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77"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78"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06DE6B4-5ABF-4D18-821C-FE147D985E10}" type="slidenum">
              <a:rPr lang="en-US" sz="1200" b="0" strike="noStrike" spc="-1">
                <a:solidFill>
                  <a:srgbClr val="898989"/>
                </a:solidFill>
                <a:latin typeface="Calibri"/>
              </a:rPr>
              <a:t>8</a:t>
            </a:fld>
            <a:endParaRPr lang="en-US" sz="1200" b="0" strike="noStrike" spc="-1">
              <a:solidFill>
                <a:srgbClr val="0000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0" y="665280"/>
            <a:ext cx="1135368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dirty="0">
                <a:solidFill>
                  <a:srgbClr val="000000"/>
                </a:solidFill>
                <a:latin typeface="Times New Roman"/>
                <a:ea typeface="Times New Roman"/>
              </a:rPr>
              <a:t>   PROPOSED METHODOLOGY</a:t>
            </a:r>
            <a:endParaRPr lang="en-US" sz="3200" b="0" strike="noStrike" spc="-1" dirty="0">
              <a:solidFill>
                <a:srgbClr val="000000"/>
              </a:solidFill>
              <a:latin typeface="Calibri Light"/>
            </a:endParaRPr>
          </a:p>
        </p:txBody>
      </p:sp>
      <p:pic>
        <p:nvPicPr>
          <p:cNvPr id="51"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52" name="TextBox 51"/>
          <p:cNvSpPr txBox="1"/>
          <p:nvPr/>
        </p:nvSpPr>
        <p:spPr>
          <a:xfrm>
            <a:off x="838080" y="1825200"/>
            <a:ext cx="10515600" cy="435132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000000"/>
              </a:solidFill>
              <a:latin typeface="Calibri"/>
            </a:endParaRPr>
          </a:p>
        </p:txBody>
      </p:sp>
      <p:pic>
        <p:nvPicPr>
          <p:cNvPr id="56" name="architecture_diagram.png"/>
          <p:cNvPicPr/>
          <p:nvPr/>
        </p:nvPicPr>
        <p:blipFill>
          <a:blip r:embed="rId3"/>
          <a:stretch/>
        </p:blipFill>
        <p:spPr>
          <a:xfrm>
            <a:off x="838080" y="2000000"/>
            <a:ext cx="10515600" cy="4074795"/>
          </a:xfrm>
          <a:prstGeom prst="rect">
            <a:avLst/>
          </a:prstGeom>
          <a:ln w="0">
            <a:noFill/>
          </a:ln>
        </p:spPr>
      </p:pic>
      <p:sp>
        <p:nvSpPr>
          <p:cNvPr id="53" name="Date Placeholder 5"/>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54" name="Footer Placeholder 6"/>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55" name="Slide Number Placeholder 7"/>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ACC5A85-3646-4AE7-A0C3-C553727FFD98}" type="slidenum">
              <a:rPr lang="en-US" sz="1200" b="0" strike="noStrike" spc="-1">
                <a:solidFill>
                  <a:srgbClr val="898989"/>
                </a:solidFill>
                <a:latin typeface="Calibri"/>
              </a:rPr>
              <a:t>9</a:t>
            </a:fld>
            <a:endParaRPr lang="en-US" sz="1200" b="0" strike="noStrike" spc="-1">
              <a:solidFill>
                <a:srgbClr val="000000"/>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99EB4-2BC2-FEF9-870B-17E55F6C2D22}"/>
            </a:ext>
          </a:extLst>
        </p:cNvPr>
        <p:cNvGrpSpPr/>
        <p:nvPr/>
      </p:nvGrpSpPr>
      <p:grpSpPr>
        <a:xfrm>
          <a:off x="0" y="0"/>
          <a:ext cx="0" cy="0"/>
          <a:chOff x="0" y="0"/>
          <a:chExt cx="0" cy="0"/>
        </a:xfrm>
      </p:grpSpPr>
      <p:pic>
        <p:nvPicPr>
          <p:cNvPr id="51" name="image3.png" descr="C:\Users\ADMIN\AppData\Local\Microsoft\Windows\INetCache\Content.MSO\C29DB0A6.tmp">
            <a:extLst>
              <a:ext uri="{FF2B5EF4-FFF2-40B4-BE49-F238E27FC236}">
                <a16:creationId xmlns:a16="http://schemas.microsoft.com/office/drawing/2014/main" id="{F90E8DF9-838E-0AB3-7BA2-F85C25352B77}"/>
              </a:ext>
            </a:extLst>
          </p:cNvPr>
          <p:cNvPicPr/>
          <p:nvPr/>
        </p:nvPicPr>
        <p:blipFill>
          <a:blip r:embed="rId2"/>
          <a:stretch/>
        </p:blipFill>
        <p:spPr>
          <a:xfrm>
            <a:off x="2924280" y="52560"/>
            <a:ext cx="5313240" cy="544320"/>
          </a:xfrm>
          <a:prstGeom prst="rect">
            <a:avLst/>
          </a:prstGeom>
          <a:ln w="0">
            <a:noFill/>
          </a:ln>
        </p:spPr>
      </p:pic>
      <p:sp>
        <p:nvSpPr>
          <p:cNvPr id="52" name="TextBox 51">
            <a:extLst>
              <a:ext uri="{FF2B5EF4-FFF2-40B4-BE49-F238E27FC236}">
                <a16:creationId xmlns:a16="http://schemas.microsoft.com/office/drawing/2014/main" id="{2434D420-6F8E-0285-BB31-98A571CD4FD5}"/>
              </a:ext>
            </a:extLst>
          </p:cNvPr>
          <p:cNvSpPr txBox="1"/>
          <p:nvPr/>
        </p:nvSpPr>
        <p:spPr>
          <a:xfrm>
            <a:off x="838080" y="1825200"/>
            <a:ext cx="10515600" cy="435132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000000"/>
              </a:solidFill>
              <a:latin typeface="Calibri"/>
            </a:endParaRPr>
          </a:p>
        </p:txBody>
      </p:sp>
      <p:sp>
        <p:nvSpPr>
          <p:cNvPr id="53" name="Date Placeholder 5">
            <a:extLst>
              <a:ext uri="{FF2B5EF4-FFF2-40B4-BE49-F238E27FC236}">
                <a16:creationId xmlns:a16="http://schemas.microsoft.com/office/drawing/2014/main" id="{5F7BA850-5BB2-9B89-5FBD-A6B587A20798}"/>
              </a:ext>
            </a:extLst>
          </p:cNvPr>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Calibri"/>
            </a:endParaRPr>
          </a:p>
        </p:txBody>
      </p:sp>
      <p:sp>
        <p:nvSpPr>
          <p:cNvPr id="54" name="Footer Placeholder 6">
            <a:extLst>
              <a:ext uri="{FF2B5EF4-FFF2-40B4-BE49-F238E27FC236}">
                <a16:creationId xmlns:a16="http://schemas.microsoft.com/office/drawing/2014/main" id="{D3BF6B41-5B3D-CC23-46EC-F70AE0262C32}"/>
              </a:ext>
            </a:extLst>
          </p:cNvPr>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pic>
        <p:nvPicPr>
          <p:cNvPr id="3" name="Picture 2">
            <a:extLst>
              <a:ext uri="{FF2B5EF4-FFF2-40B4-BE49-F238E27FC236}">
                <a16:creationId xmlns:a16="http://schemas.microsoft.com/office/drawing/2014/main" id="{B77E0D35-E1A6-0BEC-EB76-D1FDA5DDB6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057" y="752032"/>
            <a:ext cx="11723914" cy="5969528"/>
          </a:xfrm>
          <a:prstGeom prst="rect">
            <a:avLst/>
          </a:prstGeom>
        </p:spPr>
      </p:pic>
    </p:spTree>
    <p:extLst>
      <p:ext uri="{BB962C8B-B14F-4D97-AF65-F5344CB8AC3E}">
        <p14:creationId xmlns:p14="http://schemas.microsoft.com/office/powerpoint/2010/main" val="101569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C0B85-CDC5-ADB0-B951-645DF64E32AD}"/>
            </a:ext>
          </a:extLst>
        </p:cNvPr>
        <p:cNvGrpSpPr/>
        <p:nvPr/>
      </p:nvGrpSpPr>
      <p:grpSpPr>
        <a:xfrm>
          <a:off x="0" y="0"/>
          <a:ext cx="0" cy="0"/>
          <a:chOff x="0" y="0"/>
          <a:chExt cx="0" cy="0"/>
        </a:xfrm>
      </p:grpSpPr>
      <p:pic>
        <p:nvPicPr>
          <p:cNvPr id="51" name="image3.png" descr="C:\Users\ADMIN\AppData\Local\Microsoft\Windows\INetCache\Content.MSO\C29DB0A6.tmp">
            <a:extLst>
              <a:ext uri="{FF2B5EF4-FFF2-40B4-BE49-F238E27FC236}">
                <a16:creationId xmlns:a16="http://schemas.microsoft.com/office/drawing/2014/main" id="{8690DB74-35B5-D02E-1C6F-65D3B3774AA7}"/>
              </a:ext>
            </a:extLst>
          </p:cNvPr>
          <p:cNvPicPr/>
          <p:nvPr/>
        </p:nvPicPr>
        <p:blipFill>
          <a:blip r:embed="rId2"/>
          <a:stretch/>
        </p:blipFill>
        <p:spPr>
          <a:xfrm>
            <a:off x="2924280" y="52560"/>
            <a:ext cx="5313240" cy="544320"/>
          </a:xfrm>
          <a:prstGeom prst="rect">
            <a:avLst/>
          </a:prstGeom>
          <a:ln w="0">
            <a:noFill/>
          </a:ln>
        </p:spPr>
      </p:pic>
      <p:sp>
        <p:nvSpPr>
          <p:cNvPr id="52" name="TextBox 51">
            <a:extLst>
              <a:ext uri="{FF2B5EF4-FFF2-40B4-BE49-F238E27FC236}">
                <a16:creationId xmlns:a16="http://schemas.microsoft.com/office/drawing/2014/main" id="{04D26589-0E17-8752-3460-C4A6010A5028}"/>
              </a:ext>
            </a:extLst>
          </p:cNvPr>
          <p:cNvSpPr txBox="1"/>
          <p:nvPr/>
        </p:nvSpPr>
        <p:spPr>
          <a:xfrm>
            <a:off x="838080" y="1825200"/>
            <a:ext cx="10515600" cy="435132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a:solidFill>
                <a:srgbClr val="000000"/>
              </a:solidFill>
              <a:latin typeface="Calibri"/>
            </a:endParaRPr>
          </a:p>
        </p:txBody>
      </p:sp>
      <p:sp>
        <p:nvSpPr>
          <p:cNvPr id="53" name="Date Placeholder 5">
            <a:extLst>
              <a:ext uri="{FF2B5EF4-FFF2-40B4-BE49-F238E27FC236}">
                <a16:creationId xmlns:a16="http://schemas.microsoft.com/office/drawing/2014/main" id="{D83C8A7E-398B-A9B1-8971-CE466BB59635}"/>
              </a:ext>
            </a:extLst>
          </p:cNvPr>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Calibri"/>
            </a:endParaRPr>
          </a:p>
        </p:txBody>
      </p:sp>
      <p:sp>
        <p:nvSpPr>
          <p:cNvPr id="54" name="Footer Placeholder 6">
            <a:extLst>
              <a:ext uri="{FF2B5EF4-FFF2-40B4-BE49-F238E27FC236}">
                <a16:creationId xmlns:a16="http://schemas.microsoft.com/office/drawing/2014/main" id="{F61EB175-6D16-AF33-2559-FE4F929CEB7A}"/>
              </a:ext>
            </a:extLst>
          </p:cNvPr>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4" name="TextBox 3">
            <a:extLst>
              <a:ext uri="{FF2B5EF4-FFF2-40B4-BE49-F238E27FC236}">
                <a16:creationId xmlns:a16="http://schemas.microsoft.com/office/drawing/2014/main" id="{BD06CA06-FDD9-E145-FE99-2E84FB6335EA}"/>
              </a:ext>
            </a:extLst>
          </p:cNvPr>
          <p:cNvSpPr txBox="1"/>
          <p:nvPr/>
        </p:nvSpPr>
        <p:spPr>
          <a:xfrm>
            <a:off x="838080" y="2377110"/>
            <a:ext cx="9662771" cy="4197559"/>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1. Classes &amp; Objects</a:t>
            </a:r>
            <a:r>
              <a:rPr lang="en-US" dirty="0">
                <a:latin typeface="Times New Roman" panose="02020603050405020304" pitchFamily="18" charset="0"/>
                <a:cs typeface="Times New Roman" panose="02020603050405020304" pitchFamily="18" charset="0"/>
              </a:rPr>
              <a:t> → represent users, courses, assignments, reports, etc.</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2. Encapsulation</a:t>
            </a:r>
            <a:r>
              <a:rPr lang="en-US" dirty="0">
                <a:latin typeface="Times New Roman" panose="02020603050405020304" pitchFamily="18" charset="0"/>
                <a:cs typeface="Times New Roman" panose="02020603050405020304" pitchFamily="18" charset="0"/>
              </a:rPr>
              <a:t> → protect user and assignment data.</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3. Inheritance</a:t>
            </a:r>
            <a:r>
              <a:rPr lang="en-US" dirty="0">
                <a:latin typeface="Times New Roman" panose="02020603050405020304" pitchFamily="18" charset="0"/>
                <a:cs typeface="Times New Roman" panose="02020603050405020304" pitchFamily="18" charset="0"/>
              </a:rPr>
              <a:t> → Student, Teacher, and Admin can inherit from User.</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4. Polymorphism</a:t>
            </a:r>
            <a:r>
              <a:rPr lang="en-US" dirty="0">
                <a:latin typeface="Times New Roman" panose="02020603050405020304" pitchFamily="18" charset="0"/>
                <a:cs typeface="Times New Roman" panose="02020603050405020304" pitchFamily="18" charset="0"/>
              </a:rPr>
              <a:t> → different users can perform different operations.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5. Interfaces</a:t>
            </a:r>
            <a:r>
              <a:rPr lang="en-US" dirty="0">
                <a:latin typeface="Times New Roman" panose="02020603050405020304" pitchFamily="18" charset="0"/>
                <a:cs typeface="Times New Roman" panose="02020603050405020304" pitchFamily="18" charset="0"/>
              </a:rPr>
              <a:t> → define common services such as authentication and classroom services.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6. Collections</a:t>
            </a:r>
            <a:r>
              <a:rPr lang="en-US" dirty="0">
                <a:latin typeface="Times New Roman" panose="02020603050405020304" pitchFamily="18" charset="0"/>
                <a:cs typeface="Times New Roman" panose="02020603050405020304" pitchFamily="18" charset="0"/>
              </a:rPr>
              <a:t> → store users, courses, assignments, questions, and messages.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7. Exception Handling</a:t>
            </a:r>
            <a:r>
              <a:rPr lang="en-US" dirty="0">
                <a:latin typeface="Times New Roman" panose="02020603050405020304" pitchFamily="18" charset="0"/>
                <a:cs typeface="Times New Roman" panose="02020603050405020304" pitchFamily="18" charset="0"/>
              </a:rPr>
              <a:t> → handle login, database, file, and input errors.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8. Multithreading</a:t>
            </a:r>
            <a:r>
              <a:rPr lang="en-US" dirty="0">
                <a:latin typeface="Times New Roman" panose="02020603050405020304" pitchFamily="18" charset="0"/>
                <a:cs typeface="Times New Roman" panose="02020603050405020304" pitchFamily="18" charset="0"/>
              </a:rPr>
              <a:t> → support multiple users and real-time classroom activities.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9. Streams &amp; Lambda Expressions</a:t>
            </a:r>
            <a:r>
              <a:rPr lang="en-US" dirty="0">
                <a:latin typeface="Times New Roman" panose="02020603050405020304" pitchFamily="18" charset="0"/>
                <a:cs typeface="Times New Roman" panose="02020603050405020304" pitchFamily="18" charset="0"/>
              </a:rPr>
              <a:t> → process and filter assessment/report data.</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10. JDBC/JPA/Hibernate</a:t>
            </a:r>
            <a:r>
              <a:rPr lang="en-US" dirty="0">
                <a:latin typeface="Times New Roman" panose="02020603050405020304" pitchFamily="18" charset="0"/>
                <a:cs typeface="Times New Roman" panose="02020603050405020304" pitchFamily="18" charset="0"/>
              </a:rPr>
              <a:t> → connect the Java application with MySQL.</a:t>
            </a:r>
          </a:p>
        </p:txBody>
      </p:sp>
      <p:sp>
        <p:nvSpPr>
          <p:cNvPr id="6" name="TextBox 5">
            <a:extLst>
              <a:ext uri="{FF2B5EF4-FFF2-40B4-BE49-F238E27FC236}">
                <a16:creationId xmlns:a16="http://schemas.microsoft.com/office/drawing/2014/main" id="{C58D9AD5-B477-6C0F-680C-663BE5238C0A}"/>
              </a:ext>
            </a:extLst>
          </p:cNvPr>
          <p:cNvSpPr txBox="1"/>
          <p:nvPr/>
        </p:nvSpPr>
        <p:spPr>
          <a:xfrm>
            <a:off x="1925834" y="1109495"/>
            <a:ext cx="8437366" cy="439750"/>
          </a:xfrm>
          <a:prstGeom prst="rect">
            <a:avLst/>
          </a:prstGeom>
          <a:noFill/>
          <a:ln w="0">
            <a:noFill/>
          </a:ln>
        </p:spPr>
        <p:txBody>
          <a:bodyPr anchor="t">
            <a:normAutofit fontScale="92500" lnSpcReduction="10000"/>
          </a:bodyPr>
          <a:lstStyle/>
          <a:p>
            <a:pPr>
              <a:lnSpc>
                <a:spcPct val="90000"/>
              </a:lnSpc>
              <a:spcBef>
                <a:spcPts val="1001"/>
              </a:spcBef>
              <a:buClr>
                <a:srgbClr val="000000"/>
              </a:buCl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spc="-1" dirty="0">
                <a:solidFill>
                  <a:srgbClr val="000000"/>
                </a:solidFill>
                <a:latin typeface="Times New Roman" panose="02020603050405020304" pitchFamily="18" charset="0"/>
                <a:cs typeface="Times New Roman" panose="02020603050405020304" pitchFamily="18" charset="0"/>
              </a:rPr>
              <a:t>JAVA CONCEPTS ARE USED IN THIS PROJECT</a:t>
            </a:r>
            <a:endParaRPr lang="en-US" sz="2800" b="1"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5771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ABA12-6492-668F-B052-4AE2D822A923}"/>
            </a:ext>
          </a:extLst>
        </p:cNvPr>
        <p:cNvGrpSpPr/>
        <p:nvPr/>
      </p:nvGrpSpPr>
      <p:grpSpPr>
        <a:xfrm>
          <a:off x="0" y="0"/>
          <a:ext cx="0" cy="0"/>
          <a:chOff x="0" y="0"/>
          <a:chExt cx="0" cy="0"/>
        </a:xfrm>
      </p:grpSpPr>
      <p:pic>
        <p:nvPicPr>
          <p:cNvPr id="51" name="image3.png" descr="C:\Users\ADMIN\AppData\Local\Microsoft\Windows\INetCache\Content.MSO\C29DB0A6.tmp">
            <a:extLst>
              <a:ext uri="{FF2B5EF4-FFF2-40B4-BE49-F238E27FC236}">
                <a16:creationId xmlns:a16="http://schemas.microsoft.com/office/drawing/2014/main" id="{B63DAF78-B858-5042-0036-195BB92B572B}"/>
              </a:ext>
            </a:extLst>
          </p:cNvPr>
          <p:cNvPicPr/>
          <p:nvPr/>
        </p:nvPicPr>
        <p:blipFill>
          <a:blip r:embed="rId2"/>
          <a:stretch/>
        </p:blipFill>
        <p:spPr>
          <a:xfrm>
            <a:off x="2924280" y="52560"/>
            <a:ext cx="5313240" cy="544320"/>
          </a:xfrm>
          <a:prstGeom prst="rect">
            <a:avLst/>
          </a:prstGeom>
          <a:ln w="0">
            <a:noFill/>
          </a:ln>
        </p:spPr>
      </p:pic>
      <p:sp>
        <p:nvSpPr>
          <p:cNvPr id="52" name="TextBox 51">
            <a:extLst>
              <a:ext uri="{FF2B5EF4-FFF2-40B4-BE49-F238E27FC236}">
                <a16:creationId xmlns:a16="http://schemas.microsoft.com/office/drawing/2014/main" id="{15535CB4-3B8A-E837-1ECF-9437482F54DF}"/>
              </a:ext>
            </a:extLst>
          </p:cNvPr>
          <p:cNvSpPr txBox="1"/>
          <p:nvPr/>
        </p:nvSpPr>
        <p:spPr>
          <a:xfrm>
            <a:off x="838080" y="1825200"/>
            <a:ext cx="6123159" cy="435132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strike="noStrike" spc="-1" dirty="0">
              <a:solidFill>
                <a:srgbClr val="000000"/>
              </a:solidFill>
              <a:latin typeface="Calibri"/>
            </a:endParaRPr>
          </a:p>
        </p:txBody>
      </p:sp>
      <p:sp>
        <p:nvSpPr>
          <p:cNvPr id="53" name="Date Placeholder 5">
            <a:extLst>
              <a:ext uri="{FF2B5EF4-FFF2-40B4-BE49-F238E27FC236}">
                <a16:creationId xmlns:a16="http://schemas.microsoft.com/office/drawing/2014/main" id="{8B542F19-5E3D-9203-4CA0-DC271EABD57B}"/>
              </a:ext>
            </a:extLst>
          </p:cNvPr>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Calibri"/>
            </a:endParaRPr>
          </a:p>
        </p:txBody>
      </p:sp>
      <p:sp>
        <p:nvSpPr>
          <p:cNvPr id="54" name="Footer Placeholder 6">
            <a:extLst>
              <a:ext uri="{FF2B5EF4-FFF2-40B4-BE49-F238E27FC236}">
                <a16:creationId xmlns:a16="http://schemas.microsoft.com/office/drawing/2014/main" id="{CE69FA55-FB7E-D415-84C2-76669889082C}"/>
              </a:ext>
            </a:extLst>
          </p:cNvPr>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4" name="TextBox 3">
            <a:extLst>
              <a:ext uri="{FF2B5EF4-FFF2-40B4-BE49-F238E27FC236}">
                <a16:creationId xmlns:a16="http://schemas.microsoft.com/office/drawing/2014/main" id="{F9D5FC71-F588-33E2-E3B1-4CD5684DF23E}"/>
              </a:ext>
            </a:extLst>
          </p:cNvPr>
          <p:cNvSpPr txBox="1"/>
          <p:nvPr/>
        </p:nvSpPr>
        <p:spPr>
          <a:xfrm>
            <a:off x="700430" y="1645200"/>
            <a:ext cx="6663932" cy="4197559"/>
          </a:xfrm>
          <a:prstGeom prst="rect">
            <a:avLst/>
          </a:prstGeom>
          <a:noFill/>
        </p:spPr>
        <p:txBody>
          <a:bodyPr wrap="square">
            <a:spAutoFit/>
          </a:bodyPr>
          <a:lstStyle/>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 Blueprint for creating objects.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Object</a:t>
            </a:r>
            <a:r>
              <a:rPr lang="en-US" dirty="0">
                <a:latin typeface="Times New Roman" panose="02020603050405020304" pitchFamily="18" charset="0"/>
                <a:cs typeface="Times New Roman" panose="02020603050405020304" pitchFamily="18" charset="0"/>
              </a:rPr>
              <a:t> → Instance of a class.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Encapsulation</a:t>
            </a:r>
            <a:r>
              <a:rPr lang="en-US" dirty="0">
                <a:latin typeface="Times New Roman" panose="02020603050405020304" pitchFamily="18" charset="0"/>
                <a:cs typeface="Times New Roman" panose="02020603050405020304" pitchFamily="18" charset="0"/>
              </a:rPr>
              <a:t> → Protecting data by wrapping it with methods.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Inheritance</a:t>
            </a:r>
            <a:r>
              <a:rPr lang="en-US" dirty="0">
                <a:latin typeface="Times New Roman" panose="02020603050405020304" pitchFamily="18" charset="0"/>
                <a:cs typeface="Times New Roman" panose="02020603050405020304" pitchFamily="18" charset="0"/>
              </a:rPr>
              <a:t> → Acquiring properties from another class.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Polymorphism</a:t>
            </a:r>
            <a:r>
              <a:rPr lang="en-US" dirty="0">
                <a:latin typeface="Times New Roman" panose="02020603050405020304" pitchFamily="18" charset="0"/>
                <a:cs typeface="Times New Roman" panose="02020603050405020304" pitchFamily="18" charset="0"/>
              </a:rPr>
              <a:t> → One interface/method, different behaviors.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Interface</a:t>
            </a:r>
            <a:r>
              <a:rPr lang="en-US" dirty="0">
                <a:latin typeface="Times New Roman" panose="02020603050405020304" pitchFamily="18" charset="0"/>
                <a:cs typeface="Times New Roman" panose="02020603050405020304" pitchFamily="18" charset="0"/>
              </a:rPr>
              <a:t> → A contract that classes implement.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Collections</a:t>
            </a:r>
            <a:r>
              <a:rPr lang="en-US" dirty="0">
                <a:latin typeface="Times New Roman" panose="02020603050405020304" pitchFamily="18" charset="0"/>
                <a:cs typeface="Times New Roman" panose="02020603050405020304" pitchFamily="18" charset="0"/>
              </a:rPr>
              <a:t> → Store and manage groups of objects.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Exception Handling</a:t>
            </a:r>
            <a:r>
              <a:rPr lang="en-US" dirty="0">
                <a:latin typeface="Times New Roman" panose="02020603050405020304" pitchFamily="18" charset="0"/>
                <a:cs typeface="Times New Roman" panose="02020603050405020304" pitchFamily="18" charset="0"/>
              </a:rPr>
              <a:t> → Handling runtime errors safely. </a:t>
            </a:r>
          </a:p>
          <a:p>
            <a:pPr marL="342900" lvl="0" indent="-342900">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Multithreading</a:t>
            </a:r>
            <a:r>
              <a:rPr lang="en-US" dirty="0">
                <a:latin typeface="Times New Roman" panose="02020603050405020304" pitchFamily="18" charset="0"/>
                <a:cs typeface="Times New Roman" panose="02020603050405020304" pitchFamily="18" charset="0"/>
              </a:rPr>
              <a:t> → Running multiple tasks concurrently.</a:t>
            </a:r>
          </a:p>
          <a:p>
            <a:pPr marL="342900" indent="-342900">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6CE4760-7AEF-EA37-D8E4-2CBB30E1F363}"/>
              </a:ext>
            </a:extLst>
          </p:cNvPr>
          <p:cNvSpPr txBox="1"/>
          <p:nvPr/>
        </p:nvSpPr>
        <p:spPr>
          <a:xfrm>
            <a:off x="1925834" y="1109495"/>
            <a:ext cx="8437366" cy="439750"/>
          </a:xfrm>
          <a:prstGeom prst="rect">
            <a:avLst/>
          </a:prstGeom>
          <a:noFill/>
          <a:ln w="0">
            <a:noFill/>
          </a:ln>
        </p:spPr>
        <p:txBody>
          <a:bodyPr anchor="t">
            <a:normAutofit fontScale="92500" lnSpcReduction="10000"/>
          </a:bodyPr>
          <a:lstStyle/>
          <a:p>
            <a:pPr>
              <a:lnSpc>
                <a:spcPct val="90000"/>
              </a:lnSpc>
              <a:spcBef>
                <a:spcPts val="1001"/>
              </a:spcBef>
              <a:buClr>
                <a:srgbClr val="000000"/>
              </a:buCl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spc="-1" dirty="0">
                <a:solidFill>
                  <a:srgbClr val="000000"/>
                </a:solidFill>
                <a:latin typeface="Times New Roman" panose="02020603050405020304" pitchFamily="18" charset="0"/>
                <a:cs typeface="Times New Roman" panose="02020603050405020304" pitchFamily="18" charset="0"/>
              </a:rPr>
              <a:t>JAVA CONCEPTS ARE USED IN THIS PROJECT</a:t>
            </a:r>
            <a:endParaRPr lang="en-US" sz="2800" b="1" strike="noStrike" spc="-1" dirty="0">
              <a:solidFill>
                <a:srgbClr val="00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57C7BB9-E0D0-9149-DE31-95C0D4AA8CC6}"/>
              </a:ext>
            </a:extLst>
          </p:cNvPr>
          <p:cNvPicPr>
            <a:picLocks noChangeAspect="1"/>
          </p:cNvPicPr>
          <p:nvPr/>
        </p:nvPicPr>
        <p:blipFill>
          <a:blip r:embed="rId3"/>
          <a:stretch>
            <a:fillRect/>
          </a:stretch>
        </p:blipFill>
        <p:spPr>
          <a:xfrm>
            <a:off x="7780403" y="2157441"/>
            <a:ext cx="3810330" cy="3246713"/>
          </a:xfrm>
          <a:prstGeom prst="rect">
            <a:avLst/>
          </a:prstGeom>
        </p:spPr>
      </p:pic>
    </p:spTree>
    <p:extLst>
      <p:ext uri="{BB962C8B-B14F-4D97-AF65-F5344CB8AC3E}">
        <p14:creationId xmlns:p14="http://schemas.microsoft.com/office/powerpoint/2010/main" val="346467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strike="noStrike" spc="-1" dirty="0">
                <a:solidFill>
                  <a:srgbClr val="000000"/>
                </a:solidFill>
                <a:latin typeface="Times New Roman"/>
                <a:ea typeface="Times New Roman"/>
              </a:rPr>
              <a:t>MODULE 1 - USER MANAGEMENT AND AUTHENTICATION</a:t>
            </a:r>
            <a:endParaRPr lang="en-US" sz="2800" b="1" strike="noStrike" spc="-1" dirty="0">
              <a:solidFill>
                <a:srgbClr val="000000"/>
              </a:solidFill>
              <a:latin typeface="Calibri Light"/>
            </a:endParaRPr>
          </a:p>
        </p:txBody>
      </p:sp>
      <p:sp>
        <p:nvSpPr>
          <p:cNvPr id="21" name="TextBox 20"/>
          <p:cNvSpPr txBox="1"/>
          <p:nvPr/>
        </p:nvSpPr>
        <p:spPr>
          <a:xfrm>
            <a:off x="493951" y="1429578"/>
            <a:ext cx="7489843" cy="4351320"/>
          </a:xfrm>
          <a:prstGeom prst="rect">
            <a:avLst/>
          </a:prstGeom>
          <a:noFill/>
          <a:ln w="0">
            <a:noFill/>
          </a:ln>
        </p:spPr>
        <p:txBody>
          <a:bodyPr anchor="t">
            <a:noAutofit/>
          </a:bodyPr>
          <a:lstStyle/>
          <a:p>
            <a:pPr marL="457200" indent="-4572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User Management : </a:t>
            </a:r>
            <a:r>
              <a:rPr lang="en-US" dirty="0">
                <a:latin typeface="Times New Roman" panose="02020603050405020304" pitchFamily="18" charset="0"/>
                <a:cs typeface="Times New Roman" panose="02020603050405020304" pitchFamily="18" charset="0"/>
              </a:rPr>
              <a:t>User Management is the process of creating, storing, updating, and managing users in the Virtual Classroom System.</a:t>
            </a:r>
          </a:p>
          <a:p>
            <a:pPr marL="457200" indent="-4572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Authentication: </a:t>
            </a:r>
            <a:r>
              <a:rPr lang="en-US" dirty="0">
                <a:latin typeface="Times New Roman" panose="02020603050405020304" pitchFamily="18" charset="0"/>
                <a:cs typeface="Times New Roman" panose="02020603050405020304" pitchFamily="18" charset="0"/>
              </a:rPr>
              <a:t>Authentication is the process of verifying the identity of a user before allowing them to access the Virtual Classroom System.</a:t>
            </a:r>
          </a:p>
          <a:p>
            <a:pPr marL="457200" indent="-457200">
              <a:lnSpc>
                <a:spcPct val="150000"/>
              </a:lnSpc>
              <a:buFont typeface="+mj-lt"/>
              <a:buAutoNum type="arabicParenR"/>
            </a:pPr>
            <a:r>
              <a:rPr lang="en-US" dirty="0">
                <a:latin typeface="Times New Roman" panose="02020603050405020304" pitchFamily="18" charset="0"/>
                <a:cs typeface="Times New Roman" panose="02020603050405020304" pitchFamily="18" charset="0"/>
              </a:rPr>
              <a:t>The User Management and Authentication module is used to manage all users of the Virtual Classroom System and provide secure access to the website. It mainly handles registration, login, user profiles, roles, password management, and logout.</a:t>
            </a:r>
            <a:endParaRPr lang="en-US" b="1"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arenR"/>
            </a:pPr>
            <a:r>
              <a:rPr lang="en-US" dirty="0">
                <a:latin typeface="Times New Roman" panose="02020603050405020304" pitchFamily="18" charset="0"/>
                <a:cs typeface="Times New Roman" panose="02020603050405020304" pitchFamily="18" charset="0"/>
              </a:rPr>
              <a:t>It also supports profile management, password security,</a:t>
            </a:r>
          </a:p>
          <a:p>
            <a:pPr>
              <a:lnSpc>
                <a:spcPct val="150000"/>
              </a:lnSpc>
            </a:pPr>
            <a:r>
              <a:rPr lang="en-US" dirty="0">
                <a:latin typeface="Times New Roman" panose="02020603050405020304" pitchFamily="18" charset="0"/>
                <a:cs typeface="Times New Roman" panose="02020603050405020304" pitchFamily="18" charset="0"/>
              </a:rPr>
              <a:t>        account management, and logout.”</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Java Concepts: </a:t>
            </a:r>
            <a:r>
              <a:rPr lang="en-US" dirty="0">
                <a:latin typeface="Times New Roman" panose="02020603050405020304" pitchFamily="18" charset="0"/>
                <a:cs typeface="Times New Roman" panose="02020603050405020304" pitchFamily="18" charset="0"/>
              </a:rPr>
              <a:t>Classes and Objects</a:t>
            </a:r>
          </a:p>
          <a:p>
            <a:pPr>
              <a:lnSpc>
                <a:spcPct val="150000"/>
              </a:lnSpc>
            </a:pPr>
            <a:r>
              <a:rPr lang="en-US" dirty="0">
                <a:latin typeface="Times New Roman" panose="02020603050405020304" pitchFamily="18" charset="0"/>
                <a:cs typeface="Times New Roman" panose="02020603050405020304" pitchFamily="18" charset="0"/>
              </a:rPr>
              <a:t>EX:USER,TEACHER,STUDENT,ADMIN</a:t>
            </a:r>
          </a:p>
          <a:p>
            <a:pPr marL="457200" lvl="0" indent="-457200">
              <a:lnSpc>
                <a:spcPct val="150000"/>
              </a:lnSpc>
              <a:buFont typeface="+mj-lt"/>
              <a:buAutoNum type="arabicParenR"/>
            </a:pPr>
            <a:endParaRPr lang="en-IN" dirty="0">
              <a:latin typeface="Times New Roman" panose="02020603050405020304" pitchFamily="18" charset="0"/>
              <a:cs typeface="Times New Roman" panose="02020603050405020304" pitchFamily="18" charset="0"/>
            </a:endParaRPr>
          </a:p>
        </p:txBody>
      </p:sp>
      <p:pic>
        <p:nvPicPr>
          <p:cNvPr id="22"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2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448985-7F26-40B8-BAAB-D8DD12FC24FC}" type="slidenum">
              <a:rPr lang="en-US" sz="1200" b="0" strike="noStrike" spc="-1">
                <a:solidFill>
                  <a:srgbClr val="898989"/>
                </a:solidFill>
                <a:latin typeface="Calibri"/>
              </a:rPr>
              <a:t>13</a:t>
            </a:fld>
            <a:endParaRPr lang="en-US" sz="1200" b="0" strike="noStrike" spc="-1">
              <a:solidFill>
                <a:srgbClr val="000000"/>
              </a:solidFill>
              <a:latin typeface="Calibri"/>
            </a:endParaRPr>
          </a:p>
        </p:txBody>
      </p:sp>
      <p:pic>
        <p:nvPicPr>
          <p:cNvPr id="3" name="Picture 2">
            <a:extLst>
              <a:ext uri="{FF2B5EF4-FFF2-40B4-BE49-F238E27FC236}">
                <a16:creationId xmlns:a16="http://schemas.microsoft.com/office/drawing/2014/main" id="{BBBAF8E0-B7E0-AAB5-919B-A9E866759C8E}"/>
              </a:ext>
            </a:extLst>
          </p:cNvPr>
          <p:cNvPicPr>
            <a:picLocks noChangeAspect="1"/>
          </p:cNvPicPr>
          <p:nvPr/>
        </p:nvPicPr>
        <p:blipFill>
          <a:blip r:embed="rId3"/>
          <a:stretch>
            <a:fillRect/>
          </a:stretch>
        </p:blipFill>
        <p:spPr>
          <a:xfrm>
            <a:off x="7983794" y="2248890"/>
            <a:ext cx="4084031" cy="27126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425124" y="539543"/>
            <a:ext cx="11538155"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strike="noStrike" spc="-1" dirty="0">
                <a:solidFill>
                  <a:srgbClr val="000000"/>
                </a:solidFill>
                <a:latin typeface="Times New Roman"/>
                <a:ea typeface="Times New Roman"/>
              </a:rPr>
              <a:t>MODULE 2 - LIVE CLASSROOM AND CONTENT MANAGEMENT</a:t>
            </a:r>
            <a:endParaRPr lang="en-US" sz="2800" b="1" strike="noStrike" spc="-1" dirty="0">
              <a:solidFill>
                <a:srgbClr val="000000"/>
              </a:solidFill>
              <a:latin typeface="Calibri Light"/>
            </a:endParaRPr>
          </a:p>
        </p:txBody>
      </p:sp>
      <p:sp>
        <p:nvSpPr>
          <p:cNvPr id="21" name="TextBox 20"/>
          <p:cNvSpPr txBox="1"/>
          <p:nvPr/>
        </p:nvSpPr>
        <p:spPr>
          <a:xfrm>
            <a:off x="461366" y="1638387"/>
            <a:ext cx="8025460" cy="4351320"/>
          </a:xfrm>
          <a:prstGeom prst="rect">
            <a:avLst/>
          </a:prstGeom>
          <a:noFill/>
          <a:ln w="0">
            <a:noFill/>
          </a:ln>
        </p:spPr>
        <p:txBody>
          <a:bodyPr anchor="t">
            <a:noAutofit/>
          </a:bodyPr>
          <a:lstStyle/>
          <a:p>
            <a:pPr marL="457200" indent="-457200">
              <a:lnSpc>
                <a:spcPct val="150000"/>
              </a:lnSpc>
              <a:buFont typeface="+mj-lt"/>
              <a:buAutoNum type="arabicParenR"/>
            </a:pPr>
            <a:r>
              <a:rPr lang="en-US" dirty="0">
                <a:latin typeface="Times New Roman" panose="02020603050405020304" pitchFamily="18" charset="0"/>
                <a:cs typeface="Times New Roman" panose="02020603050405020304" pitchFamily="18" charset="0"/>
              </a:rPr>
              <a:t>The Live Classroom and Content Management module is used to conduct online classes and manage educational content in the Virtual Classroom System. </a:t>
            </a:r>
          </a:p>
          <a:p>
            <a:pPr marL="457200" indent="-457200">
              <a:lnSpc>
                <a:spcPct val="150000"/>
              </a:lnSpc>
              <a:buFont typeface="+mj-lt"/>
              <a:buAutoNum type="arabicParenR"/>
            </a:pPr>
            <a:r>
              <a:rPr lang="en-US" dirty="0">
                <a:latin typeface="Times New Roman" panose="02020603050405020304" pitchFamily="18" charset="0"/>
                <a:cs typeface="Times New Roman" panose="02020603050405020304" pitchFamily="18" charset="0"/>
              </a:rPr>
              <a:t>It allows Teachers to create and conduct classes and Students to join classes and access learning materials.</a:t>
            </a:r>
          </a:p>
          <a:p>
            <a:pPr marL="457200" indent="-4572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Live Classroom: </a:t>
            </a:r>
            <a:r>
              <a:rPr lang="en-US" dirty="0">
                <a:latin typeface="Times New Roman" panose="02020603050405020304" pitchFamily="18" charset="0"/>
                <a:cs typeface="Times New Roman" panose="02020603050405020304" pitchFamily="18" charset="0"/>
              </a:rPr>
              <a:t>A Live Classroom is an online classroom where teachers and students can interact in real time through the web application.</a:t>
            </a:r>
          </a:p>
          <a:p>
            <a:pPr marL="457200" indent="-4572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Content Management: </a:t>
            </a:r>
            <a:r>
              <a:rPr lang="en-US" dirty="0">
                <a:latin typeface="Times New Roman" panose="02020603050405020304" pitchFamily="18" charset="0"/>
                <a:cs typeface="Times New Roman" panose="02020603050405020304" pitchFamily="18" charset="0"/>
              </a:rPr>
              <a:t>Content Management is the process of uploading, organizing, updating, sharing, and accessing educational materials in the Virtual Classroom System.</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Java Concepts:</a:t>
            </a:r>
          </a:p>
          <a:p>
            <a:pPr lvl="0">
              <a:lnSpc>
                <a:spcPct val="150000"/>
              </a:lnSpc>
            </a:pPr>
            <a:r>
              <a:rPr lang="en-US" dirty="0">
                <a:latin typeface="Times New Roman" panose="02020603050405020304" pitchFamily="18" charset="0"/>
                <a:cs typeface="Times New Roman" panose="02020603050405020304" pitchFamily="18" charset="0"/>
              </a:rPr>
              <a:t>Classes and Objects</a:t>
            </a:r>
          </a:p>
          <a:p>
            <a:pPr marL="342900" lvl="0" indent="-342900">
              <a:lnSpc>
                <a:spcPct val="150000"/>
              </a:lnSpc>
              <a:buFont typeface="Arial" panose="020B0604020202020204" pitchFamily="34" charset="0"/>
              <a:buChar char="•"/>
            </a:pPr>
            <a:r>
              <a:rPr lang="en-US" strike="noStrike" spc="-1" dirty="0">
                <a:solidFill>
                  <a:srgbClr val="000000"/>
                </a:solidFill>
                <a:latin typeface="Times New Roman" panose="02020603050405020304" pitchFamily="18" charset="0"/>
                <a:cs typeface="Times New Roman" panose="02020603050405020304" pitchFamily="18" charset="0"/>
              </a:rPr>
              <a:t>EX: </a:t>
            </a:r>
            <a:r>
              <a:rPr lang="en-US" dirty="0">
                <a:latin typeface="Times New Roman" panose="02020603050405020304" pitchFamily="18" charset="0"/>
                <a:cs typeface="Times New Roman" panose="02020603050405020304" pitchFamily="18" charset="0"/>
              </a:rPr>
              <a:t>Classroom, Course, </a:t>
            </a:r>
            <a:r>
              <a:rPr lang="en-US" dirty="0" err="1">
                <a:latin typeface="Times New Roman" panose="02020603050405020304" pitchFamily="18" charset="0"/>
                <a:cs typeface="Times New Roman" panose="02020603050405020304" pitchFamily="18" charset="0"/>
              </a:rPr>
              <a:t>LiveSession</a:t>
            </a:r>
            <a:endParaRPr lang="en-US" strike="noStrike" spc="-1" dirty="0">
              <a:solidFill>
                <a:srgbClr val="000000"/>
              </a:solidFill>
              <a:latin typeface="Times New Roman" panose="02020603050405020304" pitchFamily="18" charset="0"/>
              <a:cs typeface="Times New Roman" panose="02020603050405020304" pitchFamily="18" charset="0"/>
            </a:endParaRPr>
          </a:p>
        </p:txBody>
      </p:sp>
      <p:pic>
        <p:nvPicPr>
          <p:cNvPr id="22"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2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448985-7F26-40B8-BAAB-D8DD12FC24FC}" type="slidenum">
              <a:rPr lang="en-US" sz="1200" b="0" strike="noStrike" spc="-1">
                <a:solidFill>
                  <a:srgbClr val="898989"/>
                </a:solidFill>
                <a:latin typeface="Calibri"/>
              </a:rPr>
              <a:t>14</a:t>
            </a:fld>
            <a:endParaRPr lang="en-US" sz="1200" b="0" strike="noStrike" spc="-1">
              <a:solidFill>
                <a:srgbClr val="000000"/>
              </a:solidFill>
              <a:latin typeface="Calibri"/>
            </a:endParaRPr>
          </a:p>
        </p:txBody>
      </p:sp>
      <p:pic>
        <p:nvPicPr>
          <p:cNvPr id="3" name="Picture 2">
            <a:extLst>
              <a:ext uri="{FF2B5EF4-FFF2-40B4-BE49-F238E27FC236}">
                <a16:creationId xmlns:a16="http://schemas.microsoft.com/office/drawing/2014/main" id="{4D9D5ECD-B292-A9CB-1941-A3B7A8E0D305}"/>
              </a:ext>
            </a:extLst>
          </p:cNvPr>
          <p:cNvPicPr>
            <a:picLocks noChangeAspect="1"/>
          </p:cNvPicPr>
          <p:nvPr/>
        </p:nvPicPr>
        <p:blipFill>
          <a:blip r:embed="rId3"/>
          <a:stretch>
            <a:fillRect/>
          </a:stretch>
        </p:blipFill>
        <p:spPr>
          <a:xfrm>
            <a:off x="8486826" y="2051806"/>
            <a:ext cx="3706762" cy="30511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665280"/>
            <a:ext cx="10515600" cy="730901"/>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strike="noStrike" spc="-1" dirty="0">
                <a:solidFill>
                  <a:srgbClr val="000000"/>
                </a:solidFill>
                <a:latin typeface="Times New Roman"/>
                <a:ea typeface="Times New Roman"/>
              </a:rPr>
              <a:t>MODULE 3 - ASSIGNMENT, ASSESSMENT AND REPORTS</a:t>
            </a:r>
            <a:endParaRPr lang="en-US" sz="2800" b="1" strike="noStrike" spc="-1" dirty="0">
              <a:solidFill>
                <a:srgbClr val="000000"/>
              </a:solidFill>
              <a:latin typeface="Calibri Light"/>
            </a:endParaRPr>
          </a:p>
        </p:txBody>
      </p:sp>
      <p:sp>
        <p:nvSpPr>
          <p:cNvPr id="21" name="TextBox 20"/>
          <p:cNvSpPr txBox="1"/>
          <p:nvPr/>
        </p:nvSpPr>
        <p:spPr>
          <a:xfrm>
            <a:off x="395628" y="1396181"/>
            <a:ext cx="7925844" cy="4762413"/>
          </a:xfrm>
          <a:prstGeom prst="rect">
            <a:avLst/>
          </a:prstGeom>
          <a:noFill/>
          <a:ln w="0">
            <a:noFill/>
          </a:ln>
        </p:spPr>
        <p:txBody>
          <a:bodyPr anchor="t">
            <a:noAutofit/>
          </a:bodyPr>
          <a:lstStyle/>
          <a:p>
            <a:pPr marL="342900" indent="-3429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Assignment: </a:t>
            </a:r>
            <a:r>
              <a:rPr lang="en-US" dirty="0">
                <a:latin typeface="Times New Roman" panose="02020603050405020304" pitchFamily="18" charset="0"/>
                <a:cs typeface="Times New Roman" panose="02020603050405020304" pitchFamily="18" charset="0"/>
              </a:rPr>
              <a:t>An assignment is a task given by the teacher to students to complete and submit within a specified deadline.</a:t>
            </a:r>
          </a:p>
          <a:p>
            <a:pPr marL="342900" indent="-3429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Assessment: </a:t>
            </a:r>
            <a:r>
              <a:rPr lang="en-US" dirty="0">
                <a:latin typeface="Times New Roman" panose="02020603050405020304" pitchFamily="18" charset="0"/>
                <a:cs typeface="Times New Roman" panose="02020603050405020304" pitchFamily="18" charset="0"/>
              </a:rPr>
              <a:t>An assessment is a method used to evaluate the knowledge, understanding, and performance of students.</a:t>
            </a:r>
          </a:p>
          <a:p>
            <a:pPr marL="342900" indent="-3429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Reports: </a:t>
            </a:r>
            <a:r>
              <a:rPr lang="en-US" dirty="0">
                <a:latin typeface="Times New Roman" panose="02020603050405020304" pitchFamily="18" charset="0"/>
                <a:cs typeface="Times New Roman" panose="02020603050405020304" pitchFamily="18" charset="0"/>
              </a:rPr>
              <a:t>A report is a summary of a student's or class's academic performance.</a:t>
            </a:r>
          </a:p>
          <a:p>
            <a:pPr marL="342900" indent="-342900">
              <a:lnSpc>
                <a:spcPct val="150000"/>
              </a:lnSpc>
              <a:buFont typeface="+mj-lt"/>
              <a:buAutoNum type="arabicParenR"/>
            </a:pPr>
            <a:r>
              <a:rPr lang="en-US" dirty="0">
                <a:latin typeface="Times New Roman" panose="02020603050405020304" pitchFamily="18" charset="0"/>
                <a:cs typeface="Times New Roman" panose="02020603050405020304" pitchFamily="18" charset="0"/>
              </a:rPr>
              <a:t>The Assignment, Assessment and Reports module is used to manage student academic activities and evaluate their performance in the Virtual Classroom System. Teachers can create assignments and assessments, students can submit assignments and attend tests, and the system records and analyzes their performance.</a:t>
            </a:r>
          </a:p>
          <a:p>
            <a:pPr>
              <a:lnSpc>
                <a:spcPct val="150000"/>
              </a:lnSpc>
            </a:pPr>
            <a:r>
              <a:rPr lang="en-US" b="1" dirty="0">
                <a:latin typeface="Times New Roman" panose="02020603050405020304" pitchFamily="18" charset="0"/>
                <a:cs typeface="Times New Roman" panose="02020603050405020304" pitchFamily="18" charset="0"/>
              </a:rPr>
              <a:t>Java </a:t>
            </a:r>
            <a:r>
              <a:rPr lang="en-US" b="1" dirty="0" err="1">
                <a:latin typeface="Times New Roman" panose="02020603050405020304" pitchFamily="18" charset="0"/>
                <a:cs typeface="Times New Roman" panose="02020603050405020304" pitchFamily="18" charset="0"/>
              </a:rPr>
              <a:t>Concepts:</a:t>
            </a:r>
            <a:r>
              <a:rPr lang="en-US" dirty="0" err="1">
                <a:latin typeface="Times New Roman" panose="02020603050405020304" pitchFamily="18" charset="0"/>
                <a:cs typeface="Times New Roman" panose="02020603050405020304" pitchFamily="18" charset="0"/>
              </a:rPr>
              <a:t>Classes</a:t>
            </a:r>
            <a:r>
              <a:rPr lang="en-US" dirty="0">
                <a:latin typeface="Times New Roman" panose="02020603050405020304" pitchFamily="18" charset="0"/>
                <a:cs typeface="Times New Roman" panose="02020603050405020304" pitchFamily="18" charset="0"/>
              </a:rPr>
              <a:t> and Objects ,Encapsulation </a:t>
            </a:r>
          </a:p>
          <a:p>
            <a:pPr lvl="0">
              <a:lnSpc>
                <a:spcPct val="150000"/>
              </a:lnSpc>
            </a:pPr>
            <a:r>
              <a:rPr lang="en-US" dirty="0">
                <a:latin typeface="Times New Roman" panose="02020603050405020304" pitchFamily="18" charset="0"/>
                <a:cs typeface="Times New Roman" panose="02020603050405020304" pitchFamily="18" charset="0"/>
              </a:rPr>
              <a:t>Inheritance , Polymorphism</a:t>
            </a:r>
          </a:p>
          <a:p>
            <a:pPr lvl="0">
              <a:lnSpc>
                <a:spcPct val="150000"/>
              </a:lnSpc>
            </a:pPr>
            <a:r>
              <a:rPr lang="en-US" dirty="0">
                <a:latin typeface="Times New Roman" panose="02020603050405020304" pitchFamily="18" charset="0"/>
                <a:cs typeface="Times New Roman" panose="02020603050405020304" pitchFamily="18" charset="0"/>
              </a:rPr>
              <a:t>EX: Assignment, Assessment ,Question Submission</a:t>
            </a:r>
          </a:p>
          <a:p>
            <a:pPr marL="342900" lvl="0" indent="-342900">
              <a:lnSpc>
                <a:spcPct val="150000"/>
              </a:lnSpc>
              <a:buFont typeface="Arial" panose="020B0604020202020204" pitchFamily="34" charset="0"/>
              <a:buChar char="•"/>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22"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2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448985-7F26-40B8-BAAB-D8DD12FC24FC}" type="slidenum">
              <a:rPr lang="en-US" sz="1200" b="0" strike="noStrike" spc="-1">
                <a:solidFill>
                  <a:srgbClr val="898989"/>
                </a:solidFill>
                <a:latin typeface="Calibri"/>
              </a:rPr>
              <a:t>15</a:t>
            </a:fld>
            <a:endParaRPr lang="en-US" sz="1200" b="0" strike="noStrike" spc="-1">
              <a:solidFill>
                <a:srgbClr val="000000"/>
              </a:solidFill>
              <a:latin typeface="Calibri"/>
            </a:endParaRPr>
          </a:p>
        </p:txBody>
      </p:sp>
      <p:pic>
        <p:nvPicPr>
          <p:cNvPr id="3" name="Picture 2">
            <a:extLst>
              <a:ext uri="{FF2B5EF4-FFF2-40B4-BE49-F238E27FC236}">
                <a16:creationId xmlns:a16="http://schemas.microsoft.com/office/drawing/2014/main" id="{629E07DB-E8B0-850F-B91D-0BF71FAC072F}"/>
              </a:ext>
            </a:extLst>
          </p:cNvPr>
          <p:cNvPicPr>
            <a:picLocks noChangeAspect="1"/>
          </p:cNvPicPr>
          <p:nvPr/>
        </p:nvPicPr>
        <p:blipFill>
          <a:blip r:embed="rId3"/>
          <a:stretch>
            <a:fillRect/>
          </a:stretch>
        </p:blipFill>
        <p:spPr>
          <a:xfrm>
            <a:off x="8321472" y="2361889"/>
            <a:ext cx="3872116" cy="32643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15A3-7D1D-1BC0-A8D6-7C82D23216CA}"/>
            </a:ext>
          </a:extLst>
        </p:cNvPr>
        <p:cNvGrpSpPr/>
        <p:nvPr/>
      </p:nvGrpSpPr>
      <p:grpSpPr>
        <a:xfrm>
          <a:off x="0" y="0"/>
          <a:ext cx="0" cy="0"/>
          <a:chOff x="0" y="0"/>
          <a:chExt cx="0" cy="0"/>
        </a:xfrm>
      </p:grpSpPr>
      <p:sp>
        <p:nvSpPr>
          <p:cNvPr id="20" name="PlaceHolder 1">
            <a:extLst>
              <a:ext uri="{FF2B5EF4-FFF2-40B4-BE49-F238E27FC236}">
                <a16:creationId xmlns:a16="http://schemas.microsoft.com/office/drawing/2014/main" id="{A2F9E548-E2CE-6C97-C836-8AAA243E732B}"/>
              </a:ext>
            </a:extLst>
          </p:cNvPr>
          <p:cNvSpPr>
            <a:spLocks noGrp="1"/>
          </p:cNvSpPr>
          <p:nvPr>
            <p:ph type="title"/>
          </p:nvPr>
        </p:nvSpPr>
        <p:spPr>
          <a:xfrm>
            <a:off x="838080" y="665280"/>
            <a:ext cx="10515600" cy="721068"/>
          </a:xfrm>
          <a:prstGeom prst="rect">
            <a:avLst/>
          </a:prstGeom>
          <a:noFill/>
          <a:ln w="0">
            <a:noFill/>
          </a:ln>
        </p:spPr>
        <p:txBody>
          <a:bodyPr lIns="91440" tIns="45720" rIns="91440" bIns="4572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dirty="0">
                <a:solidFill>
                  <a:srgbClr val="000000"/>
                </a:solidFill>
                <a:latin typeface="Times New Roman"/>
                <a:ea typeface="Times New Roman"/>
              </a:rPr>
              <a:t>MODULE 4 - </a:t>
            </a:r>
            <a:r>
              <a:rPr lang="en-IN" sz="3200" dirty="0">
                <a:solidFill>
                  <a:schemeClr val="tx2"/>
                </a:solidFill>
                <a:latin typeface="Times New Roman" panose="02020603050405020304" pitchFamily="18" charset="0"/>
                <a:cs typeface="Times New Roman" panose="02020603050405020304" pitchFamily="18" charset="0"/>
              </a:rPr>
              <a:t>Reports And Group Discussion</a:t>
            </a:r>
            <a:endParaRPr lang="en-US" sz="3200" strike="noStrike" spc="-1" dirty="0">
              <a:solidFill>
                <a:schemeClr val="tx2"/>
              </a:solidFill>
              <a:latin typeface="Calibri Light"/>
            </a:endParaRPr>
          </a:p>
        </p:txBody>
      </p:sp>
      <p:sp>
        <p:nvSpPr>
          <p:cNvPr id="21" name="TextBox 20">
            <a:extLst>
              <a:ext uri="{FF2B5EF4-FFF2-40B4-BE49-F238E27FC236}">
                <a16:creationId xmlns:a16="http://schemas.microsoft.com/office/drawing/2014/main" id="{B592D74F-6BAC-175D-A96A-343B6D88E153}"/>
              </a:ext>
            </a:extLst>
          </p:cNvPr>
          <p:cNvSpPr txBox="1"/>
          <p:nvPr/>
        </p:nvSpPr>
        <p:spPr>
          <a:xfrm>
            <a:off x="240227" y="1386348"/>
            <a:ext cx="7913053" cy="4790172"/>
          </a:xfrm>
          <a:prstGeom prst="rect">
            <a:avLst/>
          </a:prstGeom>
          <a:noFill/>
          <a:ln w="0">
            <a:noFill/>
          </a:ln>
        </p:spPr>
        <p:txBody>
          <a:bodyPr anchor="t">
            <a:noAutofit/>
          </a:bodyPr>
          <a:lstStyle/>
          <a:p>
            <a:pPr marL="342900" indent="-342900">
              <a:lnSpc>
                <a:spcPct val="150000"/>
              </a:lnSpc>
              <a:buFont typeface="+mj-lt"/>
              <a:buAutoNum type="arabicParenR"/>
            </a:pPr>
            <a:r>
              <a:rPr lang="en-US" b="1" dirty="0" err="1">
                <a:latin typeface="Times New Roman" panose="02020603050405020304" pitchFamily="18" charset="0"/>
                <a:cs typeface="Times New Roman" panose="02020603050405020304" pitchFamily="18" charset="0"/>
              </a:rPr>
              <a:t>Reports:</a:t>
            </a:r>
            <a:r>
              <a:rPr lang="en-US" dirty="0" err="1">
                <a:latin typeface="Times New Roman" panose="02020603050405020304" pitchFamily="18" charset="0"/>
                <a:cs typeface="Times New Roman" panose="02020603050405020304" pitchFamily="18" charset="0"/>
              </a:rPr>
              <a:t>Reports</a:t>
            </a:r>
            <a:r>
              <a:rPr lang="en-US" dirty="0">
                <a:latin typeface="Times New Roman" panose="02020603050405020304" pitchFamily="18" charset="0"/>
                <a:cs typeface="Times New Roman" panose="02020603050405020304" pitchFamily="18" charset="0"/>
              </a:rPr>
              <a:t> are organized summaries of student and classroom performance.</a:t>
            </a:r>
          </a:p>
          <a:p>
            <a:pPr marL="342900" indent="-342900">
              <a:lnSpc>
                <a:spcPct val="150000"/>
              </a:lnSpc>
              <a:buFont typeface="+mj-lt"/>
              <a:buAutoNum type="arabicParenR"/>
            </a:pPr>
            <a:r>
              <a:rPr lang="en-US" b="1" dirty="0">
                <a:latin typeface="Times New Roman" panose="02020603050405020304" pitchFamily="18" charset="0"/>
                <a:cs typeface="Times New Roman" panose="02020603050405020304" pitchFamily="18" charset="0"/>
              </a:rPr>
              <a:t>Group </a:t>
            </a:r>
            <a:r>
              <a:rPr lang="en-US" b="1" dirty="0" err="1">
                <a:latin typeface="Times New Roman" panose="02020603050405020304" pitchFamily="18" charset="0"/>
                <a:cs typeface="Times New Roman" panose="02020603050405020304" pitchFamily="18" charset="0"/>
              </a:rPr>
              <a:t>Discussion:</a:t>
            </a:r>
            <a:r>
              <a:rPr lang="en-US" dirty="0" err="1">
                <a:latin typeface="Times New Roman" panose="02020603050405020304" pitchFamily="18" charset="0"/>
                <a:cs typeface="Times New Roman" panose="02020603050405020304" pitchFamily="18" charset="0"/>
              </a:rPr>
              <a:t>Group</a:t>
            </a:r>
            <a:r>
              <a:rPr lang="en-US" dirty="0">
                <a:latin typeface="Times New Roman" panose="02020603050405020304" pitchFamily="18" charset="0"/>
                <a:cs typeface="Times New Roman" panose="02020603050405020304" pitchFamily="18" charset="0"/>
              </a:rPr>
              <a:t> Discussion is a communication feature that allows students and teachers to interact and share information about academic topics through messages.</a:t>
            </a:r>
          </a:p>
          <a:p>
            <a:pPr marL="342900" indent="-342900">
              <a:lnSpc>
                <a:spcPct val="150000"/>
              </a:lnSpc>
              <a:buFont typeface="+mj-lt"/>
              <a:buAutoNum type="arabicParenR"/>
            </a:pPr>
            <a:r>
              <a:rPr lang="en-US" dirty="0">
                <a:latin typeface="Times New Roman" panose="02020603050405020304" pitchFamily="18" charset="0"/>
                <a:cs typeface="Times New Roman" panose="02020603050405020304" pitchFamily="18" charset="0"/>
              </a:rPr>
              <a:t>The Reports and Group Discussion module is used to monitor student performance and provide a platform for students and teachers to communicate and discuss academic topics in the Virtual Classroom System.</a:t>
            </a:r>
            <a:endParaRPr lang="en-US" b="1"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Java Concepts:</a:t>
            </a:r>
            <a:endParaRPr lang="en-US"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Classes and Objects ,Interfaces ,Collections</a:t>
            </a:r>
          </a:p>
          <a:p>
            <a:pPr lvl="0">
              <a:lnSpc>
                <a:spcPct val="150000"/>
              </a:lnSpc>
            </a:pPr>
            <a:r>
              <a:rPr lang="en-US" dirty="0">
                <a:latin typeface="Times New Roman" panose="02020603050405020304" pitchFamily="18" charset="0"/>
                <a:cs typeface="Times New Roman" panose="02020603050405020304" pitchFamily="18" charset="0"/>
              </a:rPr>
              <a:t>EX: Report, Performance ,Attendance </a:t>
            </a:r>
          </a:p>
          <a:p>
            <a:pPr marL="342900" lvl="0" indent="-342900">
              <a:lnSpc>
                <a:spcPct val="150000"/>
              </a:lnSpc>
              <a:buFont typeface="Arial" panose="020B0604020202020204" pitchFamily="34" charset="0"/>
              <a:buChar char="•"/>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22" name="image3.png" descr="C:\Users\ADMIN\AppData\Local\Microsoft\Windows\INetCache\Content.MSO\C29DB0A6.tmp">
            <a:extLst>
              <a:ext uri="{FF2B5EF4-FFF2-40B4-BE49-F238E27FC236}">
                <a16:creationId xmlns:a16="http://schemas.microsoft.com/office/drawing/2014/main" id="{8A36AB02-4EF3-7BCC-F8C2-FE2E4F6BB008}"/>
              </a:ext>
            </a:extLst>
          </p:cNvPr>
          <p:cNvPicPr/>
          <p:nvPr/>
        </p:nvPicPr>
        <p:blipFill>
          <a:blip r:embed="rId2"/>
          <a:stretch/>
        </p:blipFill>
        <p:spPr>
          <a:xfrm>
            <a:off x="2924280" y="52560"/>
            <a:ext cx="5313240" cy="544320"/>
          </a:xfrm>
          <a:prstGeom prst="rect">
            <a:avLst/>
          </a:prstGeom>
          <a:ln w="0">
            <a:noFill/>
          </a:ln>
        </p:spPr>
      </p:pic>
      <p:sp>
        <p:nvSpPr>
          <p:cNvPr id="25" name="Slide Number Placeholder 6">
            <a:extLst>
              <a:ext uri="{FF2B5EF4-FFF2-40B4-BE49-F238E27FC236}">
                <a16:creationId xmlns:a16="http://schemas.microsoft.com/office/drawing/2014/main" id="{98134E09-C3CC-BBC6-7998-041161C78434}"/>
              </a:ext>
            </a:extLst>
          </p:cNvPr>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448985-7F26-40B8-BAAB-D8DD12FC24FC}" type="slidenum">
              <a:rPr lang="en-US" sz="1200" b="0" strike="noStrike" spc="-1">
                <a:solidFill>
                  <a:srgbClr val="898989"/>
                </a:solidFill>
                <a:latin typeface="Calibri"/>
              </a:rPr>
              <a:t>16</a:t>
            </a:fld>
            <a:endParaRPr lang="en-US" sz="1200" b="0" strike="noStrike" spc="-1">
              <a:solidFill>
                <a:srgbClr val="000000"/>
              </a:solidFill>
              <a:latin typeface="Calibri"/>
            </a:endParaRPr>
          </a:p>
        </p:txBody>
      </p:sp>
      <p:pic>
        <p:nvPicPr>
          <p:cNvPr id="3" name="Picture 2">
            <a:extLst>
              <a:ext uri="{FF2B5EF4-FFF2-40B4-BE49-F238E27FC236}">
                <a16:creationId xmlns:a16="http://schemas.microsoft.com/office/drawing/2014/main" id="{370DD407-CF20-4DCE-9B10-C9E7363CD86A}"/>
              </a:ext>
            </a:extLst>
          </p:cNvPr>
          <p:cNvPicPr>
            <a:picLocks noChangeAspect="1"/>
          </p:cNvPicPr>
          <p:nvPr/>
        </p:nvPicPr>
        <p:blipFill>
          <a:blip r:embed="rId3"/>
          <a:stretch>
            <a:fillRect/>
          </a:stretch>
        </p:blipFill>
        <p:spPr>
          <a:xfrm>
            <a:off x="8237519" y="2644877"/>
            <a:ext cx="4041711" cy="3313471"/>
          </a:xfrm>
          <a:prstGeom prst="rect">
            <a:avLst/>
          </a:prstGeom>
        </p:spPr>
      </p:pic>
    </p:spTree>
    <p:extLst>
      <p:ext uri="{BB962C8B-B14F-4D97-AF65-F5344CB8AC3E}">
        <p14:creationId xmlns:p14="http://schemas.microsoft.com/office/powerpoint/2010/main" val="1355235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729223" y="806194"/>
            <a:ext cx="10515600" cy="102564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dirty="0">
                <a:solidFill>
                  <a:srgbClr val="000000"/>
                </a:solidFill>
                <a:latin typeface="Times New Roman"/>
                <a:ea typeface="Times New Roman"/>
              </a:rPr>
              <a:t>PROJECT DEMO </a:t>
            </a:r>
            <a:endParaRPr lang="en-US" sz="4400" b="0" strike="noStrike" spc="-1" dirty="0">
              <a:solidFill>
                <a:srgbClr val="000000"/>
              </a:solidFill>
              <a:latin typeface="Calibri Light"/>
            </a:endParaRPr>
          </a:p>
        </p:txBody>
      </p:sp>
      <p:pic>
        <p:nvPicPr>
          <p:cNvPr id="63"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65"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strike="noStrike" spc="-1" dirty="0">
              <a:solidFill>
                <a:srgbClr val="000000"/>
              </a:solidFill>
              <a:latin typeface="Calibri"/>
            </a:endParaRPr>
          </a:p>
        </p:txBody>
      </p:sp>
      <p:pic>
        <p:nvPicPr>
          <p:cNvPr id="3" name="Picture 2">
            <a:extLst>
              <a:ext uri="{FF2B5EF4-FFF2-40B4-BE49-F238E27FC236}">
                <a16:creationId xmlns:a16="http://schemas.microsoft.com/office/drawing/2014/main" id="{E4CB8FB8-24BB-30DB-A3C1-E0625711ACB8}"/>
              </a:ext>
            </a:extLst>
          </p:cNvPr>
          <p:cNvPicPr>
            <a:picLocks noChangeAspect="1"/>
          </p:cNvPicPr>
          <p:nvPr/>
        </p:nvPicPr>
        <p:blipFill>
          <a:blip r:embed="rId3"/>
          <a:stretch>
            <a:fillRect/>
          </a:stretch>
        </p:blipFill>
        <p:spPr>
          <a:xfrm>
            <a:off x="377077" y="1649342"/>
            <a:ext cx="11510123" cy="47071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APPLICATIONS OF THE RESEARCH</a:t>
            </a:r>
            <a:endParaRPr lang="en-US" sz="4400" b="0" strike="noStrike" spc="-1">
              <a:solidFill>
                <a:srgbClr val="000000"/>
              </a:solidFill>
              <a:latin typeface="Calibri Light"/>
            </a:endParaRPr>
          </a:p>
        </p:txBody>
      </p:sp>
      <p:sp>
        <p:nvSpPr>
          <p:cNvPr id="57" name="TextBox 56"/>
          <p:cNvSpPr txBox="1"/>
          <p:nvPr/>
        </p:nvSpPr>
        <p:spPr>
          <a:xfrm>
            <a:off x="838080" y="1825200"/>
            <a:ext cx="10515600" cy="4351320"/>
          </a:xfrm>
          <a:prstGeom prst="rect">
            <a:avLst/>
          </a:prstGeom>
          <a:noFill/>
          <a:ln w="0">
            <a:noFill/>
          </a:ln>
        </p:spPr>
        <p:txBody>
          <a:bodyPr anchor="t">
            <a:normAutofit/>
          </a:bodyPr>
          <a:lstStyle/>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Can be used by schools and colleges for regular online classes.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Useful for conducting remote assignments and evaluations.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Helps institutions manage student attendance and performance digitally.</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Supports distance learning and skill development programs.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Can be extended for corporate training and e-learning platforms.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Assists in reducing paperwork and manual academic administration.</a:t>
            </a:r>
            <a:endParaRPr lang="en-US" sz="2000" b="0" strike="noStrike" spc="-1">
              <a:solidFill>
                <a:srgbClr val="000000"/>
              </a:solidFill>
              <a:latin typeface="Calibri"/>
            </a:endParaRPr>
          </a:p>
        </p:txBody>
      </p:sp>
      <p:pic>
        <p:nvPicPr>
          <p:cNvPr id="58"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59"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60"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61"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1804F37-85B2-4E71-B2CB-606675C7F5D9}" type="slidenum">
              <a:rPr lang="en-US" sz="1200" b="0" strike="noStrike" spc="-1">
                <a:solidFill>
                  <a:srgbClr val="898989"/>
                </a:solidFill>
                <a:latin typeface="Calibri"/>
              </a:rPr>
              <a:t>18</a:t>
            </a:fld>
            <a:endParaRPr lang="en-US" sz="1200" b="0" strike="noStrike" spc="-1">
              <a:solidFill>
                <a:srgbClr val="000000"/>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44152-6BDB-5278-5A17-8137C6344D7C}"/>
            </a:ext>
          </a:extLst>
        </p:cNvPr>
        <p:cNvGrpSpPr/>
        <p:nvPr/>
      </p:nvGrpSpPr>
      <p:grpSpPr>
        <a:xfrm>
          <a:off x="0" y="0"/>
          <a:ext cx="0" cy="0"/>
          <a:chOff x="0" y="0"/>
          <a:chExt cx="0" cy="0"/>
        </a:xfrm>
      </p:grpSpPr>
      <p:sp>
        <p:nvSpPr>
          <p:cNvPr id="56" name="PlaceHolder 1">
            <a:extLst>
              <a:ext uri="{FF2B5EF4-FFF2-40B4-BE49-F238E27FC236}">
                <a16:creationId xmlns:a16="http://schemas.microsoft.com/office/drawing/2014/main" id="{9504BFD7-BBC3-9FFE-9FC8-4E8D779DFE3D}"/>
              </a:ext>
            </a:extLst>
          </p:cNvPr>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1" strike="noStrike" spc="-1" dirty="0">
                <a:solidFill>
                  <a:srgbClr val="000000"/>
                </a:solidFill>
                <a:latin typeface="Times New Roman" panose="02020603050405020304" pitchFamily="18" charset="0"/>
                <a:cs typeface="Times New Roman" panose="02020603050405020304" pitchFamily="18" charset="0"/>
              </a:rPr>
              <a:t>TOOLS USED</a:t>
            </a:r>
          </a:p>
        </p:txBody>
      </p:sp>
      <p:sp>
        <p:nvSpPr>
          <p:cNvPr id="57" name="TextBox 56">
            <a:extLst>
              <a:ext uri="{FF2B5EF4-FFF2-40B4-BE49-F238E27FC236}">
                <a16:creationId xmlns:a16="http://schemas.microsoft.com/office/drawing/2014/main" id="{B7149F0F-6395-CC8C-08EA-93C6D68E9800}"/>
              </a:ext>
            </a:extLst>
          </p:cNvPr>
          <p:cNvSpPr txBox="1"/>
          <p:nvPr/>
        </p:nvSpPr>
        <p:spPr>
          <a:xfrm>
            <a:off x="838080" y="1825200"/>
            <a:ext cx="10515600" cy="4351320"/>
          </a:xfrm>
          <a:prstGeom prst="rect">
            <a:avLst/>
          </a:prstGeom>
          <a:noFill/>
          <a:ln w="0">
            <a:noFill/>
          </a:ln>
        </p:spPr>
        <p:txBody>
          <a:bodyPr anchor="t">
            <a:normAutofit/>
          </a:bodyPr>
          <a:lstStyle/>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dirty="0">
              <a:solidFill>
                <a:srgbClr val="000000"/>
              </a:solidFill>
              <a:latin typeface="Calibri"/>
            </a:endParaRPr>
          </a:p>
        </p:txBody>
      </p:sp>
      <p:pic>
        <p:nvPicPr>
          <p:cNvPr id="58" name="image3.png" descr="C:\Users\ADMIN\AppData\Local\Microsoft\Windows\INetCache\Content.MSO\C29DB0A6.tmp">
            <a:extLst>
              <a:ext uri="{FF2B5EF4-FFF2-40B4-BE49-F238E27FC236}">
                <a16:creationId xmlns:a16="http://schemas.microsoft.com/office/drawing/2014/main" id="{2854264C-ADAB-0C9A-40D4-FC6B09816762}"/>
              </a:ext>
            </a:extLst>
          </p:cNvPr>
          <p:cNvPicPr/>
          <p:nvPr/>
        </p:nvPicPr>
        <p:blipFill>
          <a:blip r:embed="rId2"/>
          <a:stretch/>
        </p:blipFill>
        <p:spPr>
          <a:xfrm>
            <a:off x="2924280" y="52560"/>
            <a:ext cx="5313240" cy="544320"/>
          </a:xfrm>
          <a:prstGeom prst="rect">
            <a:avLst/>
          </a:prstGeom>
          <a:ln w="0">
            <a:noFill/>
          </a:ln>
        </p:spPr>
      </p:pic>
      <p:sp>
        <p:nvSpPr>
          <p:cNvPr id="59" name="Date Placeholder 4">
            <a:extLst>
              <a:ext uri="{FF2B5EF4-FFF2-40B4-BE49-F238E27FC236}">
                <a16:creationId xmlns:a16="http://schemas.microsoft.com/office/drawing/2014/main" id="{4384AD55-4894-648A-A198-64538D1E15F1}"/>
              </a:ext>
            </a:extLst>
          </p:cNvPr>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60" name="Footer Placeholder 5">
            <a:extLst>
              <a:ext uri="{FF2B5EF4-FFF2-40B4-BE49-F238E27FC236}">
                <a16:creationId xmlns:a16="http://schemas.microsoft.com/office/drawing/2014/main" id="{EC764ACE-5634-0CD3-75C4-2A2AA847E9AB}"/>
              </a:ext>
            </a:extLst>
          </p:cNvPr>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61" name="Slide Number Placeholder 6">
            <a:extLst>
              <a:ext uri="{FF2B5EF4-FFF2-40B4-BE49-F238E27FC236}">
                <a16:creationId xmlns:a16="http://schemas.microsoft.com/office/drawing/2014/main" id="{A7142B1B-89B6-FFBB-D0D4-9AEE181BD99C}"/>
              </a:ext>
            </a:extLst>
          </p:cNvPr>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1804F37-85B2-4E71-B2CB-606675C7F5D9}" type="slidenum">
              <a:rPr lang="en-US" sz="1200" b="0" strike="noStrike" spc="-1">
                <a:solidFill>
                  <a:srgbClr val="898989"/>
                </a:solidFill>
                <a:latin typeface="Calibri"/>
              </a:rPr>
              <a:t>19</a:t>
            </a:fld>
            <a:endParaRPr lang="en-US" sz="1200" b="0" strike="noStrike" spc="-1">
              <a:solidFill>
                <a:srgbClr val="000000"/>
              </a:solidFill>
              <a:latin typeface="Calibri"/>
            </a:endParaRPr>
          </a:p>
        </p:txBody>
      </p:sp>
      <p:graphicFrame>
        <p:nvGraphicFramePr>
          <p:cNvPr id="2" name="Table 1">
            <a:extLst>
              <a:ext uri="{FF2B5EF4-FFF2-40B4-BE49-F238E27FC236}">
                <a16:creationId xmlns:a16="http://schemas.microsoft.com/office/drawing/2014/main" id="{7184ADA1-77E2-8292-44DC-50DFFF7FCAB5}"/>
              </a:ext>
            </a:extLst>
          </p:cNvPr>
          <p:cNvGraphicFramePr>
            <a:graphicFrameLocks noGrp="1"/>
          </p:cNvGraphicFramePr>
          <p:nvPr>
            <p:extLst>
              <p:ext uri="{D42A27DB-BD31-4B8C-83A1-F6EECF244321}">
                <p14:modId xmlns:p14="http://schemas.microsoft.com/office/powerpoint/2010/main" val="3312080561"/>
              </p:ext>
            </p:extLst>
          </p:nvPr>
        </p:nvGraphicFramePr>
        <p:xfrm>
          <a:off x="1240540" y="1430027"/>
          <a:ext cx="8503228" cy="5141666"/>
        </p:xfrm>
        <a:graphic>
          <a:graphicData uri="http://schemas.openxmlformats.org/drawingml/2006/table">
            <a:tbl>
              <a:tblPr>
                <a:tableStyleId>{5C22544A-7EE6-4342-B048-85BDC9FD1C3A}</a:tableStyleId>
              </a:tblPr>
              <a:tblGrid>
                <a:gridCol w="4251614">
                  <a:extLst>
                    <a:ext uri="{9D8B030D-6E8A-4147-A177-3AD203B41FA5}">
                      <a16:colId xmlns:a16="http://schemas.microsoft.com/office/drawing/2014/main" val="2275619634"/>
                    </a:ext>
                  </a:extLst>
                </a:gridCol>
                <a:gridCol w="4251614">
                  <a:extLst>
                    <a:ext uri="{9D8B030D-6E8A-4147-A177-3AD203B41FA5}">
                      <a16:colId xmlns:a16="http://schemas.microsoft.com/office/drawing/2014/main" val="1436684089"/>
                    </a:ext>
                  </a:extLst>
                </a:gridCol>
              </a:tblGrid>
              <a:tr h="229018">
                <a:tc>
                  <a:txBody>
                    <a:bodyPr/>
                    <a:lstStyle/>
                    <a:p>
                      <a:pPr>
                        <a:buNone/>
                      </a:pPr>
                      <a:r>
                        <a:rPr lang="en-US" sz="1400" b="1">
                          <a:latin typeface="Times New Roman" panose="02020603050405020304" pitchFamily="18" charset="0"/>
                          <a:cs typeface="Times New Roman" panose="02020603050405020304" pitchFamily="18" charset="0"/>
                        </a:rPr>
                        <a:t>Module</a:t>
                      </a:r>
                    </a:p>
                  </a:txBody>
                  <a:tcPr marL="57254" marR="57254" marT="28627" marB="28627" anchor="ctr"/>
                </a:tc>
                <a:tc>
                  <a:txBody>
                    <a:bodyPr/>
                    <a:lstStyle/>
                    <a:p>
                      <a:pPr>
                        <a:buNone/>
                      </a:pPr>
                      <a:r>
                        <a:rPr lang="en-US" sz="1400" b="1" dirty="0">
                          <a:latin typeface="Times New Roman" panose="02020603050405020304" pitchFamily="18" charset="0"/>
                          <a:cs typeface="Times New Roman" panose="02020603050405020304" pitchFamily="18" charset="0"/>
                        </a:rPr>
                        <a:t>Tools / Technologies Used</a:t>
                      </a:r>
                    </a:p>
                  </a:txBody>
                  <a:tcPr marL="57254" marR="57254" marT="28627" marB="28627" anchor="ctr"/>
                </a:tc>
                <a:extLst>
                  <a:ext uri="{0D108BD9-81ED-4DB2-BD59-A6C34878D82A}">
                    <a16:rowId xmlns:a16="http://schemas.microsoft.com/office/drawing/2014/main" val="3747365642"/>
                  </a:ext>
                </a:extLst>
              </a:tr>
              <a:tr h="229018">
                <a:tc>
                  <a:txBody>
                    <a:bodyPr/>
                    <a:lstStyle/>
                    <a:p>
                      <a:pPr>
                        <a:buNone/>
                      </a:pPr>
                      <a:r>
                        <a:rPr lang="en-US" sz="1400">
                          <a:latin typeface="Times New Roman" panose="02020603050405020304" pitchFamily="18" charset="0"/>
                          <a:cs typeface="Times New Roman" panose="02020603050405020304" pitchFamily="18" charset="0"/>
                        </a:rPr>
                        <a:t>Frontend / Web UI</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HTML5, CSS3, JavaScript, Bootstrap</a:t>
                      </a:r>
                    </a:p>
                  </a:txBody>
                  <a:tcPr marL="57254" marR="57254" marT="28627" marB="28627" anchor="ctr"/>
                </a:tc>
                <a:extLst>
                  <a:ext uri="{0D108BD9-81ED-4DB2-BD59-A6C34878D82A}">
                    <a16:rowId xmlns:a16="http://schemas.microsoft.com/office/drawing/2014/main" val="568232413"/>
                  </a:ext>
                </a:extLst>
              </a:tr>
              <a:tr h="229018">
                <a:tc>
                  <a:txBody>
                    <a:bodyPr/>
                    <a:lstStyle/>
                    <a:p>
                      <a:pPr>
                        <a:buNone/>
                      </a:pPr>
                      <a:r>
                        <a:rPr lang="en-US" sz="1400">
                          <a:latin typeface="Times New Roman" panose="02020603050405020304" pitchFamily="18" charset="0"/>
                          <a:cs typeface="Times New Roman" panose="02020603050405020304" pitchFamily="18" charset="0"/>
                        </a:rPr>
                        <a:t>Backend</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Java</a:t>
                      </a:r>
                    </a:p>
                  </a:txBody>
                  <a:tcPr marL="57254" marR="57254" marT="28627" marB="28627" anchor="ctr"/>
                </a:tc>
                <a:extLst>
                  <a:ext uri="{0D108BD9-81ED-4DB2-BD59-A6C34878D82A}">
                    <a16:rowId xmlns:a16="http://schemas.microsoft.com/office/drawing/2014/main" val="2932394145"/>
                  </a:ext>
                </a:extLst>
              </a:tr>
              <a:tr h="229018">
                <a:tc>
                  <a:txBody>
                    <a:bodyPr/>
                    <a:lstStyle/>
                    <a:p>
                      <a:pPr>
                        <a:buNone/>
                      </a:pPr>
                      <a:r>
                        <a:rPr lang="en-US" sz="1400" dirty="0">
                          <a:latin typeface="Times New Roman" panose="02020603050405020304" pitchFamily="18" charset="0"/>
                          <a:cs typeface="Times New Roman" panose="02020603050405020304" pitchFamily="18" charset="0"/>
                        </a:rPr>
                        <a:t>Backend Framework</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Spring Boot</a:t>
                      </a:r>
                    </a:p>
                  </a:txBody>
                  <a:tcPr marL="57254" marR="57254" marT="28627" marB="28627" anchor="ctr"/>
                </a:tc>
                <a:extLst>
                  <a:ext uri="{0D108BD9-81ED-4DB2-BD59-A6C34878D82A}">
                    <a16:rowId xmlns:a16="http://schemas.microsoft.com/office/drawing/2014/main" val="343191800"/>
                  </a:ext>
                </a:extLst>
              </a:tr>
              <a:tr h="229018">
                <a:tc>
                  <a:txBody>
                    <a:bodyPr/>
                    <a:lstStyle/>
                    <a:p>
                      <a:pPr>
                        <a:buNone/>
                      </a:pPr>
                      <a:r>
                        <a:rPr lang="en-US" sz="1400">
                          <a:latin typeface="Times New Roman" panose="02020603050405020304" pitchFamily="18" charset="0"/>
                          <a:cs typeface="Times New Roman" panose="02020603050405020304" pitchFamily="18" charset="0"/>
                        </a:rPr>
                        <a:t>Web/API</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Spring MVC, REST API</a:t>
                      </a:r>
                    </a:p>
                  </a:txBody>
                  <a:tcPr marL="57254" marR="57254" marT="28627" marB="28627" anchor="ctr"/>
                </a:tc>
                <a:extLst>
                  <a:ext uri="{0D108BD9-81ED-4DB2-BD59-A6C34878D82A}">
                    <a16:rowId xmlns:a16="http://schemas.microsoft.com/office/drawing/2014/main" val="267727"/>
                  </a:ext>
                </a:extLst>
              </a:tr>
              <a:tr h="229018">
                <a:tc>
                  <a:txBody>
                    <a:bodyPr/>
                    <a:lstStyle/>
                    <a:p>
                      <a:pPr>
                        <a:buNone/>
                      </a:pPr>
                      <a:r>
                        <a:rPr lang="en-US" sz="1400">
                          <a:latin typeface="Times New Roman" panose="02020603050405020304" pitchFamily="18" charset="0"/>
                          <a:cs typeface="Times New Roman" panose="02020603050405020304" pitchFamily="18" charset="0"/>
                        </a:rPr>
                        <a:t>Database</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MySQL</a:t>
                      </a:r>
                    </a:p>
                  </a:txBody>
                  <a:tcPr marL="57254" marR="57254" marT="28627" marB="28627" anchor="ctr"/>
                </a:tc>
                <a:extLst>
                  <a:ext uri="{0D108BD9-81ED-4DB2-BD59-A6C34878D82A}">
                    <a16:rowId xmlns:a16="http://schemas.microsoft.com/office/drawing/2014/main" val="2670235451"/>
                  </a:ext>
                </a:extLst>
              </a:tr>
              <a:tr h="229018">
                <a:tc>
                  <a:txBody>
                    <a:bodyPr/>
                    <a:lstStyle/>
                    <a:p>
                      <a:pPr>
                        <a:buNone/>
                      </a:pPr>
                      <a:r>
                        <a:rPr lang="en-US" sz="1400">
                          <a:latin typeface="Times New Roman" panose="02020603050405020304" pitchFamily="18" charset="0"/>
                          <a:cs typeface="Times New Roman" panose="02020603050405020304" pitchFamily="18" charset="0"/>
                        </a:rPr>
                        <a:t>Database Connectivity</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Spring Data JPA / Hibernate</a:t>
                      </a:r>
                    </a:p>
                  </a:txBody>
                  <a:tcPr marL="57254" marR="57254" marT="28627" marB="28627" anchor="ctr"/>
                </a:tc>
                <a:extLst>
                  <a:ext uri="{0D108BD9-81ED-4DB2-BD59-A6C34878D82A}">
                    <a16:rowId xmlns:a16="http://schemas.microsoft.com/office/drawing/2014/main" val="4126747959"/>
                  </a:ext>
                </a:extLst>
              </a:tr>
              <a:tr h="229018">
                <a:tc>
                  <a:txBody>
                    <a:bodyPr/>
                    <a:lstStyle/>
                    <a:p>
                      <a:pPr>
                        <a:buNone/>
                      </a:pPr>
                      <a:r>
                        <a:rPr lang="en-US" sz="1400" dirty="0">
                          <a:latin typeface="Times New Roman" panose="02020603050405020304" pitchFamily="18" charset="0"/>
                          <a:cs typeface="Times New Roman" panose="02020603050405020304" pitchFamily="18" charset="0"/>
                        </a:rPr>
                        <a:t>Authentication</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Spring Security, JWT</a:t>
                      </a:r>
                    </a:p>
                  </a:txBody>
                  <a:tcPr marL="57254" marR="57254" marT="28627" marB="28627" anchor="ctr"/>
                </a:tc>
                <a:extLst>
                  <a:ext uri="{0D108BD9-81ED-4DB2-BD59-A6C34878D82A}">
                    <a16:rowId xmlns:a16="http://schemas.microsoft.com/office/drawing/2014/main" val="639063828"/>
                  </a:ext>
                </a:extLst>
              </a:tr>
              <a:tr h="229018">
                <a:tc>
                  <a:txBody>
                    <a:bodyPr/>
                    <a:lstStyle/>
                    <a:p>
                      <a:pPr>
                        <a:buNone/>
                      </a:pPr>
                      <a:r>
                        <a:rPr lang="en-US" sz="1400">
                          <a:latin typeface="Times New Roman" panose="02020603050405020304" pitchFamily="18" charset="0"/>
                          <a:cs typeface="Times New Roman" panose="02020603050405020304" pitchFamily="18" charset="0"/>
                        </a:rPr>
                        <a:t>Live Classroom</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WebRTC / WebSocket</a:t>
                      </a:r>
                    </a:p>
                  </a:txBody>
                  <a:tcPr marL="57254" marR="57254" marT="28627" marB="28627" anchor="ctr"/>
                </a:tc>
                <a:extLst>
                  <a:ext uri="{0D108BD9-81ED-4DB2-BD59-A6C34878D82A}">
                    <a16:rowId xmlns:a16="http://schemas.microsoft.com/office/drawing/2014/main" val="3199788084"/>
                  </a:ext>
                </a:extLst>
              </a:tr>
              <a:tr h="229018">
                <a:tc>
                  <a:txBody>
                    <a:bodyPr/>
                    <a:lstStyle/>
                    <a:p>
                      <a:pPr>
                        <a:buNone/>
                      </a:pPr>
                      <a:r>
                        <a:rPr lang="en-US" sz="1400">
                          <a:latin typeface="Times New Roman" panose="02020603050405020304" pitchFamily="18" charset="0"/>
                          <a:cs typeface="Times New Roman" panose="02020603050405020304" pitchFamily="18" charset="0"/>
                        </a:rPr>
                        <a:t>Content Management</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HTML, CSS, JavaScript + Spring Boot</a:t>
                      </a:r>
                    </a:p>
                  </a:txBody>
                  <a:tcPr marL="57254" marR="57254" marT="28627" marB="28627" anchor="ctr"/>
                </a:tc>
                <a:extLst>
                  <a:ext uri="{0D108BD9-81ED-4DB2-BD59-A6C34878D82A}">
                    <a16:rowId xmlns:a16="http://schemas.microsoft.com/office/drawing/2014/main" val="2408743737"/>
                  </a:ext>
                </a:extLst>
              </a:tr>
              <a:tr h="229018">
                <a:tc>
                  <a:txBody>
                    <a:bodyPr/>
                    <a:lstStyle/>
                    <a:p>
                      <a:pPr>
                        <a:buNone/>
                      </a:pPr>
                      <a:r>
                        <a:rPr lang="en-US" sz="1400">
                          <a:latin typeface="Times New Roman" panose="02020603050405020304" pitchFamily="18" charset="0"/>
                          <a:cs typeface="Times New Roman" panose="02020603050405020304" pitchFamily="18" charset="0"/>
                        </a:rPr>
                        <a:t>Assignments &amp; Assessments</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Spring Boot + MySQL</a:t>
                      </a:r>
                    </a:p>
                  </a:txBody>
                  <a:tcPr marL="57254" marR="57254" marT="28627" marB="28627" anchor="ctr"/>
                </a:tc>
                <a:extLst>
                  <a:ext uri="{0D108BD9-81ED-4DB2-BD59-A6C34878D82A}">
                    <a16:rowId xmlns:a16="http://schemas.microsoft.com/office/drawing/2014/main" val="785413133"/>
                  </a:ext>
                </a:extLst>
              </a:tr>
              <a:tr h="229018">
                <a:tc>
                  <a:txBody>
                    <a:bodyPr/>
                    <a:lstStyle/>
                    <a:p>
                      <a:pPr>
                        <a:buNone/>
                      </a:pPr>
                      <a:r>
                        <a:rPr lang="en-US" sz="1400">
                          <a:latin typeface="Times New Roman" panose="02020603050405020304" pitchFamily="18" charset="0"/>
                          <a:cs typeface="Times New Roman" panose="02020603050405020304" pitchFamily="18" charset="0"/>
                        </a:rPr>
                        <a:t>Reports</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Java + Spring Boot + Chart.js</a:t>
                      </a:r>
                    </a:p>
                  </a:txBody>
                  <a:tcPr marL="57254" marR="57254" marT="28627" marB="28627" anchor="ctr"/>
                </a:tc>
                <a:extLst>
                  <a:ext uri="{0D108BD9-81ED-4DB2-BD59-A6C34878D82A}">
                    <a16:rowId xmlns:a16="http://schemas.microsoft.com/office/drawing/2014/main" val="108934575"/>
                  </a:ext>
                </a:extLst>
              </a:tr>
              <a:tr h="229018">
                <a:tc>
                  <a:txBody>
                    <a:bodyPr/>
                    <a:lstStyle/>
                    <a:p>
                      <a:pPr>
                        <a:buNone/>
                      </a:pPr>
                      <a:r>
                        <a:rPr lang="en-US" sz="1400">
                          <a:latin typeface="Times New Roman" panose="02020603050405020304" pitchFamily="18" charset="0"/>
                          <a:cs typeface="Times New Roman" panose="02020603050405020304" pitchFamily="18" charset="0"/>
                        </a:rPr>
                        <a:t>Group Discussion</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WebSocket / STOMP</a:t>
                      </a:r>
                    </a:p>
                  </a:txBody>
                  <a:tcPr marL="57254" marR="57254" marT="28627" marB="28627" anchor="ctr"/>
                </a:tc>
                <a:extLst>
                  <a:ext uri="{0D108BD9-81ED-4DB2-BD59-A6C34878D82A}">
                    <a16:rowId xmlns:a16="http://schemas.microsoft.com/office/drawing/2014/main" val="4243060468"/>
                  </a:ext>
                </a:extLst>
              </a:tr>
              <a:tr h="229018">
                <a:tc>
                  <a:txBody>
                    <a:bodyPr/>
                    <a:lstStyle/>
                    <a:p>
                      <a:pPr>
                        <a:buNone/>
                      </a:pPr>
                      <a:r>
                        <a:rPr lang="en-US" sz="1400">
                          <a:latin typeface="Times New Roman" panose="02020603050405020304" pitchFamily="18" charset="0"/>
                          <a:cs typeface="Times New Roman" panose="02020603050405020304" pitchFamily="18" charset="0"/>
                        </a:rPr>
                        <a:t>Development IDE</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IntelliJ IDEA / Eclipse / VS Code</a:t>
                      </a:r>
                    </a:p>
                  </a:txBody>
                  <a:tcPr marL="57254" marR="57254" marT="28627" marB="28627" anchor="ctr"/>
                </a:tc>
                <a:extLst>
                  <a:ext uri="{0D108BD9-81ED-4DB2-BD59-A6C34878D82A}">
                    <a16:rowId xmlns:a16="http://schemas.microsoft.com/office/drawing/2014/main" val="3171694397"/>
                  </a:ext>
                </a:extLst>
              </a:tr>
              <a:tr h="229018">
                <a:tc>
                  <a:txBody>
                    <a:bodyPr/>
                    <a:lstStyle/>
                    <a:p>
                      <a:pPr>
                        <a:buNone/>
                      </a:pPr>
                      <a:r>
                        <a:rPr lang="en-US" sz="1400">
                          <a:latin typeface="Times New Roman" panose="02020603050405020304" pitchFamily="18" charset="0"/>
                          <a:cs typeface="Times New Roman" panose="02020603050405020304" pitchFamily="18" charset="0"/>
                        </a:rPr>
                        <a:t>Build Tool</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Maven</a:t>
                      </a:r>
                    </a:p>
                  </a:txBody>
                  <a:tcPr marL="57254" marR="57254" marT="28627" marB="28627" anchor="ctr"/>
                </a:tc>
                <a:extLst>
                  <a:ext uri="{0D108BD9-81ED-4DB2-BD59-A6C34878D82A}">
                    <a16:rowId xmlns:a16="http://schemas.microsoft.com/office/drawing/2014/main" val="1620361552"/>
                  </a:ext>
                </a:extLst>
              </a:tr>
              <a:tr h="229018">
                <a:tc>
                  <a:txBody>
                    <a:bodyPr/>
                    <a:lstStyle/>
                    <a:p>
                      <a:pPr>
                        <a:buNone/>
                      </a:pPr>
                      <a:r>
                        <a:rPr lang="en-US" sz="1400">
                          <a:latin typeface="Times New Roman" panose="02020603050405020304" pitchFamily="18" charset="0"/>
                          <a:cs typeface="Times New Roman" panose="02020603050405020304" pitchFamily="18" charset="0"/>
                        </a:rPr>
                        <a:t>Server</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Apache Tomcat / Embedded Tomcat</a:t>
                      </a:r>
                    </a:p>
                  </a:txBody>
                  <a:tcPr marL="57254" marR="57254" marT="28627" marB="28627" anchor="ctr"/>
                </a:tc>
                <a:extLst>
                  <a:ext uri="{0D108BD9-81ED-4DB2-BD59-A6C34878D82A}">
                    <a16:rowId xmlns:a16="http://schemas.microsoft.com/office/drawing/2014/main" val="1740998572"/>
                  </a:ext>
                </a:extLst>
              </a:tr>
              <a:tr h="229018">
                <a:tc>
                  <a:txBody>
                    <a:bodyPr/>
                    <a:lstStyle/>
                    <a:p>
                      <a:pPr>
                        <a:buNone/>
                      </a:pPr>
                      <a:r>
                        <a:rPr lang="en-US" sz="1400">
                          <a:latin typeface="Times New Roman" panose="02020603050405020304" pitchFamily="18" charset="0"/>
                          <a:cs typeface="Times New Roman" panose="02020603050405020304" pitchFamily="18" charset="0"/>
                        </a:rPr>
                        <a:t>Version Control</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Git + GitHub</a:t>
                      </a:r>
                    </a:p>
                  </a:txBody>
                  <a:tcPr marL="57254" marR="57254" marT="28627" marB="28627" anchor="ctr"/>
                </a:tc>
                <a:extLst>
                  <a:ext uri="{0D108BD9-81ED-4DB2-BD59-A6C34878D82A}">
                    <a16:rowId xmlns:a16="http://schemas.microsoft.com/office/drawing/2014/main" val="1062924289"/>
                  </a:ext>
                </a:extLst>
              </a:tr>
              <a:tr h="229018">
                <a:tc>
                  <a:txBody>
                    <a:bodyPr/>
                    <a:lstStyle/>
                    <a:p>
                      <a:pPr>
                        <a:buNone/>
                      </a:pPr>
                      <a:r>
                        <a:rPr lang="en-US" sz="1400">
                          <a:latin typeface="Times New Roman" panose="02020603050405020304" pitchFamily="18" charset="0"/>
                          <a:cs typeface="Times New Roman" panose="02020603050405020304" pitchFamily="18" charset="0"/>
                        </a:rPr>
                        <a:t>API Testing</a:t>
                      </a:r>
                    </a:p>
                  </a:txBody>
                  <a:tcPr marL="57254" marR="57254" marT="28627" marB="28627" anchor="ctr"/>
                </a:tc>
                <a:tc>
                  <a:txBody>
                    <a:bodyPr/>
                    <a:lstStyle/>
                    <a:p>
                      <a:pPr>
                        <a:buNone/>
                      </a:pPr>
                      <a:r>
                        <a:rPr lang="en-US" sz="1400">
                          <a:latin typeface="Times New Roman" panose="02020603050405020304" pitchFamily="18" charset="0"/>
                          <a:cs typeface="Times New Roman" panose="02020603050405020304" pitchFamily="18" charset="0"/>
                        </a:rPr>
                        <a:t>Postman</a:t>
                      </a:r>
                    </a:p>
                  </a:txBody>
                  <a:tcPr marL="57254" marR="57254" marT="28627" marB="28627" anchor="ctr"/>
                </a:tc>
                <a:extLst>
                  <a:ext uri="{0D108BD9-81ED-4DB2-BD59-A6C34878D82A}">
                    <a16:rowId xmlns:a16="http://schemas.microsoft.com/office/drawing/2014/main" val="1559340452"/>
                  </a:ext>
                </a:extLst>
              </a:tr>
              <a:tr h="229018">
                <a:tc>
                  <a:txBody>
                    <a:bodyPr/>
                    <a:lstStyle/>
                    <a:p>
                      <a:pPr>
                        <a:buNone/>
                      </a:pPr>
                      <a:r>
                        <a:rPr lang="en-US" sz="1400">
                          <a:latin typeface="Times New Roman" panose="02020603050405020304" pitchFamily="18" charset="0"/>
                          <a:cs typeface="Times New Roman" panose="02020603050405020304" pitchFamily="18" charset="0"/>
                        </a:rPr>
                        <a:t>Browser Testing</a:t>
                      </a:r>
                    </a:p>
                  </a:txBody>
                  <a:tcPr marL="57254" marR="57254" marT="28627" marB="28627" anchor="ctr"/>
                </a:tc>
                <a:tc>
                  <a:txBody>
                    <a:bodyPr/>
                    <a:lstStyle/>
                    <a:p>
                      <a:pPr>
                        <a:buNone/>
                      </a:pPr>
                      <a:r>
                        <a:rPr lang="en-US" sz="1400" dirty="0">
                          <a:latin typeface="Times New Roman" panose="02020603050405020304" pitchFamily="18" charset="0"/>
                          <a:cs typeface="Times New Roman" panose="02020603050405020304" pitchFamily="18" charset="0"/>
                        </a:rPr>
                        <a:t>Google Chrome / Microsoft Edge</a:t>
                      </a:r>
                    </a:p>
                  </a:txBody>
                  <a:tcPr marL="57254" marR="57254" marT="28627" marB="28627" anchor="ctr"/>
                </a:tc>
                <a:extLst>
                  <a:ext uri="{0D108BD9-81ED-4DB2-BD59-A6C34878D82A}">
                    <a16:rowId xmlns:a16="http://schemas.microsoft.com/office/drawing/2014/main" val="108081510"/>
                  </a:ext>
                </a:extLst>
              </a:tr>
            </a:tbl>
          </a:graphicData>
        </a:graphic>
      </p:graphicFrame>
    </p:spTree>
    <p:extLst>
      <p:ext uri="{BB962C8B-B14F-4D97-AF65-F5344CB8AC3E}">
        <p14:creationId xmlns:p14="http://schemas.microsoft.com/office/powerpoint/2010/main" val="3083530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RESULTS AND DISCUSSION</a:t>
            </a:r>
            <a:endParaRPr lang="en-US" sz="4400" b="0" strike="noStrike" spc="-1">
              <a:solidFill>
                <a:srgbClr val="000000"/>
              </a:solidFill>
              <a:latin typeface="Calibri Light"/>
            </a:endParaRPr>
          </a:p>
        </p:txBody>
      </p:sp>
      <p:sp>
        <p:nvSpPr>
          <p:cNvPr id="92" name="TextBox 91"/>
          <p:cNvSpPr txBox="1"/>
          <p:nvPr/>
        </p:nvSpPr>
        <p:spPr>
          <a:xfrm>
            <a:off x="838080" y="1825200"/>
            <a:ext cx="10515600" cy="4351320"/>
          </a:xfrm>
          <a:prstGeom prst="rect">
            <a:avLst/>
          </a:prstGeom>
          <a:noFill/>
          <a:ln w="0">
            <a:noFill/>
          </a:ln>
        </p:spPr>
        <p:txBody>
          <a:bodyPr anchor="t">
            <a:normAutofit/>
          </a:bodyPr>
          <a:lstStyle/>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Admin, Faculty, and Students can log in securely based on their assigned roles.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Faculty can create classes and upload study materials without difficulty.</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Students can view materials, attend live sessions, and submit assignments online.</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Assignment evaluation and feedback are recorded accurately in the database.</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Attendance and performance reports are generated correctly for each student.</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panose="02020603050405020304" pitchFamily="18" charset="0"/>
                <a:ea typeface="Times New Roman"/>
                <a:cs typeface="Times New Roman" panose="02020603050405020304" pitchFamily="18" charset="0"/>
              </a:rPr>
              <a:t>The group discussion module enables effective communication among users.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93"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94"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95"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96"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EE9A5A7-8685-4398-A8AC-D980B7E0D128}" type="slidenum">
              <a:rPr lang="en-US" sz="1200" b="0" strike="noStrike" spc="-1">
                <a:solidFill>
                  <a:srgbClr val="898989"/>
                </a:solidFill>
                <a:latin typeface="Calibri"/>
              </a:rPr>
              <a:t>20</a:t>
            </a:fld>
            <a:endParaRPr lang="en-US" sz="1200" b="0" strike="noStrike" spc="-1">
              <a:solidFill>
                <a:srgbClr val="000000"/>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COMPARISON AND ANALYSIS</a:t>
            </a:r>
            <a:endParaRPr lang="en-US" sz="4400" b="0" strike="noStrike" spc="-1">
              <a:solidFill>
                <a:srgbClr val="000000"/>
              </a:solidFill>
              <a:latin typeface="Calibri Light"/>
            </a:endParaRPr>
          </a:p>
        </p:txBody>
      </p:sp>
      <p:sp>
        <p:nvSpPr>
          <p:cNvPr id="104" name="TextBox 103"/>
          <p:cNvSpPr txBox="1"/>
          <p:nvPr/>
        </p:nvSpPr>
        <p:spPr>
          <a:xfrm>
            <a:off x="838080" y="1825200"/>
            <a:ext cx="10515600" cy="4351320"/>
          </a:xfrm>
          <a:prstGeom prst="rect">
            <a:avLst/>
          </a:prstGeom>
          <a:noFill/>
          <a:ln w="0">
            <a:noFill/>
          </a:ln>
        </p:spPr>
        <p:txBody>
          <a:bodyPr anchor="t">
            <a:normAutofit/>
          </a:bodyPr>
          <a:lstStyle/>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Existing methods rely on manual attendance; the proposed system automates attendance tracking.</a:t>
            </a:r>
            <a:endParaRPr lang="en-US" sz="2000" b="0" strike="noStrike" spc="-1" dirty="0">
              <a:solidFill>
                <a:srgbClr val="000000"/>
              </a:solidFill>
              <a:latin typeface="Calibri"/>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Assignment submission is paper-based in existing methods but fully online in the proposed system.</a:t>
            </a:r>
            <a:endParaRPr lang="en-US" sz="2000" b="0" strike="noStrike" spc="-1" dirty="0">
              <a:solidFill>
                <a:srgbClr val="000000"/>
              </a:solidFill>
              <a:latin typeface="Calibri"/>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Communication depends on notice boards, replaced here by an online group discussion module.</a:t>
            </a:r>
            <a:endParaRPr lang="en-US" sz="2000" b="0" strike="noStrike" spc="-1" dirty="0">
              <a:solidFill>
                <a:srgbClr val="000000"/>
              </a:solidFill>
              <a:latin typeface="Calibri"/>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Student records are scattered across files but centralized in a MySQL database.</a:t>
            </a:r>
            <a:endParaRPr lang="en-US" sz="2000" b="0" strike="noStrike" spc="-1" dirty="0">
              <a:solidFill>
                <a:srgbClr val="000000"/>
              </a:solidFill>
              <a:latin typeface="Calibri"/>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Existing methods offer no report generation; the proposed system provides automated reports.</a:t>
            </a:r>
            <a:endParaRPr lang="en-US" sz="2000" b="0" strike="noStrike" spc="-1" dirty="0">
              <a:solidFill>
                <a:srgbClr val="000000"/>
              </a:solidFill>
              <a:latin typeface="Calibri"/>
            </a:endParaRPr>
          </a:p>
          <a:p>
            <a:pPr marL="457200" indent="-457200">
              <a:lnSpc>
                <a:spcPct val="130000"/>
              </a:lnSpc>
              <a:spcBef>
                <a:spcPts val="1001"/>
              </a:spcBef>
              <a:buClr>
                <a:srgbClr val="000000"/>
              </a:buClr>
              <a:buFont typeface="+mj-lt"/>
              <a:buAutoNum type="arabicParen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Overall, the proposed system reduces errors, saves time, and improves accessibility.</a:t>
            </a:r>
            <a:endParaRPr lang="en-US" sz="2000" b="0" strike="noStrike" spc="-1" dirty="0">
              <a:solidFill>
                <a:srgbClr val="000000"/>
              </a:solidFill>
              <a:latin typeface="Calibri"/>
            </a:endParaRPr>
          </a:p>
        </p:txBody>
      </p:sp>
      <p:pic>
        <p:nvPicPr>
          <p:cNvPr id="105"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106"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107"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108"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D47AC21-BC29-4084-BE9F-F4C797313E88}" type="slidenum">
              <a:rPr lang="en-US" sz="1200" b="0" strike="noStrike" spc="-1">
                <a:solidFill>
                  <a:srgbClr val="898989"/>
                </a:solidFill>
                <a:latin typeface="Calibri"/>
              </a:rPr>
              <a:t>21</a:t>
            </a:fld>
            <a:endParaRPr lang="en-US" sz="1200" b="0" strike="noStrike" spc="-1">
              <a:solidFill>
                <a:srgbClr val="000000"/>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CONCLUSION</a:t>
            </a:r>
            <a:endParaRPr lang="en-US" sz="4400" b="0" strike="noStrike" spc="-1">
              <a:solidFill>
                <a:srgbClr val="000000"/>
              </a:solidFill>
              <a:latin typeface="Calibri Light"/>
            </a:endParaRPr>
          </a:p>
        </p:txBody>
      </p:sp>
      <p:sp>
        <p:nvSpPr>
          <p:cNvPr id="110" name="TextBox 109"/>
          <p:cNvSpPr txBox="1"/>
          <p:nvPr/>
        </p:nvSpPr>
        <p:spPr>
          <a:xfrm>
            <a:off x="838080" y="1825200"/>
            <a:ext cx="10515600" cy="4351320"/>
          </a:xfrm>
          <a:prstGeom prst="rect">
            <a:avLst/>
          </a:prstGeom>
          <a:noFill/>
          <a:ln w="0">
            <a:noFill/>
          </a:ln>
        </p:spPr>
        <p:txBody>
          <a:bodyPr anchor="t">
            <a:normAutofit/>
          </a:bodyPr>
          <a:lstStyle/>
          <a:p>
            <a:pPr marL="342900" indent="-342900">
              <a:lnSpc>
                <a:spcPct val="130000"/>
              </a:lnSpc>
              <a:spcBef>
                <a:spcPts val="1001"/>
              </a:spcBef>
              <a:buClr>
                <a:srgbClr val="000000"/>
              </a:buClr>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The Java-Based Virtual Classroom System provides a centralized platform for academic activities.</a:t>
            </a:r>
            <a:endParaRPr lang="en-US" sz="2000" b="0" strike="noStrike" spc="-1" dirty="0">
              <a:solidFill>
                <a:srgbClr val="000000"/>
              </a:solidFill>
              <a:latin typeface="Calibri"/>
            </a:endParaRPr>
          </a:p>
          <a:p>
            <a:pPr marL="342900" indent="-342900">
              <a:lnSpc>
                <a:spcPct val="130000"/>
              </a:lnSpc>
              <a:spcBef>
                <a:spcPts val="1001"/>
              </a:spcBef>
              <a:buClr>
                <a:srgbClr val="000000"/>
              </a:buClr>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It simplifies communication between students, faculty, and administrators.</a:t>
            </a:r>
            <a:endParaRPr lang="en-US" sz="2000" b="0" strike="noStrike" spc="-1" dirty="0">
              <a:solidFill>
                <a:srgbClr val="000000"/>
              </a:solidFill>
              <a:latin typeface="Calibri"/>
            </a:endParaRPr>
          </a:p>
          <a:p>
            <a:pPr marL="342900" indent="-342900">
              <a:lnSpc>
                <a:spcPct val="130000"/>
              </a:lnSpc>
              <a:spcBef>
                <a:spcPts val="1001"/>
              </a:spcBef>
              <a:buClr>
                <a:srgbClr val="000000"/>
              </a:buClr>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The system reduces paperwork by digitizing attendance, assignments, and reports.</a:t>
            </a:r>
            <a:endParaRPr lang="en-US" sz="2000" b="0" strike="noStrike" spc="-1" dirty="0">
              <a:solidFill>
                <a:srgbClr val="000000"/>
              </a:solidFill>
              <a:latin typeface="Calibri"/>
            </a:endParaRPr>
          </a:p>
          <a:p>
            <a:pPr marL="342900" indent="-342900">
              <a:lnSpc>
                <a:spcPct val="130000"/>
              </a:lnSpc>
              <a:spcBef>
                <a:spcPts val="1001"/>
              </a:spcBef>
              <a:buClr>
                <a:srgbClr val="000000"/>
              </a:buClr>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It improves accessibility by allowing learning from any location.</a:t>
            </a:r>
            <a:endParaRPr lang="en-US" sz="2000" b="0" strike="noStrike" spc="-1" dirty="0">
              <a:solidFill>
                <a:srgbClr val="000000"/>
              </a:solidFill>
              <a:latin typeface="Calibri"/>
            </a:endParaRPr>
          </a:p>
          <a:p>
            <a:pPr marL="342900" indent="-342900">
              <a:lnSpc>
                <a:spcPct val="130000"/>
              </a:lnSpc>
              <a:spcBef>
                <a:spcPts val="1001"/>
              </a:spcBef>
              <a:buClr>
                <a:srgbClr val="000000"/>
              </a:buClr>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Secure data management ensures reliable storage of academic information.</a:t>
            </a:r>
            <a:endParaRPr lang="en-US" sz="2000" b="0" strike="noStrike" spc="-1" dirty="0">
              <a:solidFill>
                <a:srgbClr val="000000"/>
              </a:solidFill>
              <a:latin typeface="Calibri"/>
            </a:endParaRPr>
          </a:p>
          <a:p>
            <a:pPr marL="342900" indent="-342900">
              <a:lnSpc>
                <a:spcPct val="130000"/>
              </a:lnSpc>
              <a:spcBef>
                <a:spcPts val="1001"/>
              </a:spcBef>
              <a:buClr>
                <a:srgbClr val="000000"/>
              </a:buClr>
              <a:buFont typeface="Wingdings" panose="05000000000000000000"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latin typeface="Times New Roman"/>
                <a:ea typeface="Times New Roman"/>
              </a:rPr>
              <a:t>Overall, the system enhances the efficiency and quality of modern education.</a:t>
            </a:r>
            <a:endParaRPr lang="en-US" sz="2000" b="0" strike="noStrike" spc="-1" dirty="0">
              <a:solidFill>
                <a:srgbClr val="000000"/>
              </a:solidFill>
              <a:latin typeface="Calibri"/>
            </a:endParaRPr>
          </a:p>
        </p:txBody>
      </p:sp>
      <p:pic>
        <p:nvPicPr>
          <p:cNvPr id="111"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112"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113"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114"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27E1D9D-0FDD-43A0-92EC-693F850141D6}" type="slidenum">
              <a:rPr lang="en-US" sz="1200" b="0" strike="noStrike" spc="-1">
                <a:solidFill>
                  <a:srgbClr val="898989"/>
                </a:solidFill>
                <a:latin typeface="Calibri"/>
              </a:rPr>
              <a:t>22</a:t>
            </a:fld>
            <a:endParaRPr lang="en-US" sz="1200" b="0" strike="noStrike" spc="-1">
              <a:solidFill>
                <a:srgbClr val="000000"/>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FUTURE ENHANCEMENTS</a:t>
            </a:r>
            <a:endParaRPr lang="en-US" sz="4400" b="0" strike="noStrike" spc="-1">
              <a:solidFill>
                <a:srgbClr val="000000"/>
              </a:solidFill>
              <a:latin typeface="Calibri Light"/>
            </a:endParaRPr>
          </a:p>
        </p:txBody>
      </p:sp>
      <p:sp>
        <p:nvSpPr>
          <p:cNvPr id="116" name="TextBox 115"/>
          <p:cNvSpPr txBox="1"/>
          <p:nvPr/>
        </p:nvSpPr>
        <p:spPr>
          <a:xfrm>
            <a:off x="838080" y="1825200"/>
            <a:ext cx="10515600" cy="4351320"/>
          </a:xfrm>
          <a:prstGeom prst="rect">
            <a:avLst/>
          </a:prstGeom>
          <a:noFill/>
          <a:ln w="0">
            <a:noFill/>
          </a:ln>
        </p:spPr>
        <p:txBody>
          <a:bodyPr anchor="t">
            <a:normAutofit/>
          </a:bodyPr>
          <a:lstStyle/>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Integration of AI-based plagiarism detection for assignments.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Adding real-time video conferencing for live classes.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Mobile application support for Android and iOS.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Automated notifications through email and SMS.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Integration of analytics dashboards for deeper performance insights.</a:t>
            </a:r>
            <a:endParaRPr lang="en-US" sz="2000" b="0" strike="noStrike" spc="-1">
              <a:solidFill>
                <a:srgbClr val="000000"/>
              </a:solidFill>
              <a:latin typeface="Calibri"/>
            </a:endParaRPr>
          </a:p>
          <a:p>
            <a:pPr marL="228600" indent="-228600">
              <a:lnSpc>
                <a:spcPct val="13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latin typeface="Times New Roman"/>
                <a:ea typeface="Times New Roman"/>
              </a:rPr>
              <a:t>Support for multiple languages to reach a wider audience.</a:t>
            </a:r>
            <a:endParaRPr lang="en-US" sz="2000" b="0" strike="noStrike" spc="-1">
              <a:solidFill>
                <a:srgbClr val="000000"/>
              </a:solidFill>
              <a:latin typeface="Calibri"/>
            </a:endParaRPr>
          </a:p>
        </p:txBody>
      </p:sp>
      <p:pic>
        <p:nvPicPr>
          <p:cNvPr id="117"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118"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119"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120"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E4316CD-A01F-4876-9655-D3BC3D2241CC}" type="slidenum">
              <a:rPr lang="en-US" sz="1200" b="0" strike="noStrike" spc="-1">
                <a:solidFill>
                  <a:srgbClr val="898989"/>
                </a:solidFill>
                <a:latin typeface="Calibri"/>
              </a:rPr>
              <a:t>23</a:t>
            </a:fld>
            <a:endParaRPr lang="en-US" sz="1200" b="0" strike="noStrike" spc="-1">
              <a:solidFill>
                <a:srgbClr val="000000"/>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REFERENCES</a:t>
            </a:r>
            <a:endParaRPr lang="en-US" sz="4400" b="0" strike="noStrike" spc="-1">
              <a:solidFill>
                <a:srgbClr val="000000"/>
              </a:solidFill>
              <a:latin typeface="Calibri Light"/>
            </a:endParaRPr>
          </a:p>
        </p:txBody>
      </p:sp>
      <p:sp>
        <p:nvSpPr>
          <p:cNvPr id="122" name="TextBox 121"/>
          <p:cNvSpPr txBox="1"/>
          <p:nvPr/>
        </p:nvSpPr>
        <p:spPr>
          <a:xfrm>
            <a:off x="838080" y="1825200"/>
            <a:ext cx="10515600" cy="4351320"/>
          </a:xfrm>
          <a:prstGeom prst="rect">
            <a:avLst/>
          </a:prstGeom>
          <a:noFill/>
          <a:ln w="0">
            <a:noFill/>
          </a:ln>
        </p:spPr>
        <p:txBody>
          <a:bodyPr anchor="t">
            <a:normAutofit/>
          </a:bodyPr>
          <a:lstStyle/>
          <a:p>
            <a:pPr marL="342900" lvl="0" indent="-3429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Abraham Silberschatz, Henry F. Korth and S. Sudarshan (2021), Database System Concepts, 7th Edition, McGraw-Hill. </a:t>
            </a:r>
          </a:p>
          <a:p>
            <a:pPr marL="342900" lvl="0" indent="-3429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Oracle Corporation (2023), Java Platform, Standard Edition Documentation, Oracle. </a:t>
            </a:r>
          </a:p>
          <a:p>
            <a:pPr marL="342900" lvl="0" indent="-3429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Oracle Corporation (2024), MySQL 8.4 Reference Manual, Oracle. </a:t>
            </a:r>
          </a:p>
          <a:p>
            <a:pPr marL="342900" lvl="0" indent="-3429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VMware, Inc. (2024), Spring Boot Reference Documentation, VMware. </a:t>
            </a:r>
          </a:p>
          <a:p>
            <a:pPr marL="342900" lvl="0" indent="-342900">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Oracle Corporation (2025), Java SE Development Kit Documentation, Oracle.</a:t>
            </a:r>
          </a:p>
          <a:p>
            <a:pPr marL="342900" indent="-342900">
              <a:lnSpc>
                <a:spcPct val="150000"/>
              </a:lnSpc>
              <a:spcBef>
                <a:spcPts val="1001"/>
              </a:spcBef>
              <a:buClr>
                <a:srgbClr val="000000"/>
              </a:buClr>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200" strike="noStrike" spc="-1" dirty="0">
              <a:solidFill>
                <a:srgbClr val="000000"/>
              </a:solidFill>
              <a:latin typeface="Times New Roman" panose="02020603050405020304" pitchFamily="18" charset="0"/>
              <a:cs typeface="Times New Roman" panose="02020603050405020304" pitchFamily="18" charset="0"/>
            </a:endParaRPr>
          </a:p>
        </p:txBody>
      </p:sp>
      <p:pic>
        <p:nvPicPr>
          <p:cNvPr id="123"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124"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125"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126"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CEDF0F1-8A94-48DE-8DF3-C4CFFDA85D3A}" type="slidenum">
              <a:rPr lang="en-US" sz="1200" b="0" strike="noStrike" spc="-1">
                <a:solidFill>
                  <a:srgbClr val="898989"/>
                </a:solidFill>
                <a:latin typeface="Calibri"/>
              </a:rPr>
              <a:t>24</a:t>
            </a:fld>
            <a:endParaRPr lang="en-US" sz="1200" b="0" strike="noStrike" spc="-1">
              <a:solidFill>
                <a:srgbClr val="000000"/>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933480" y="2542680"/>
            <a:ext cx="10515600" cy="212580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0" strike="noStrike" spc="-1">
                <a:solidFill>
                  <a:srgbClr val="000000"/>
                </a:solidFill>
                <a:latin typeface="Times New Roman"/>
                <a:ea typeface="Times New Roman"/>
              </a:rPr>
              <a:t>THANK YOU </a:t>
            </a:r>
            <a:endParaRPr lang="en-US" sz="7200" b="0" strike="noStrike" spc="-1">
              <a:solidFill>
                <a:srgbClr val="000000"/>
              </a:solidFill>
              <a:latin typeface="Calibri Light"/>
            </a:endParaRPr>
          </a:p>
        </p:txBody>
      </p:sp>
      <p:pic>
        <p:nvPicPr>
          <p:cNvPr id="128" name="image3.png" descr="C:\Users\ADMIN\AppData\Local\Microsoft\Windows\INetCache\Content.MSO\C29DB0A6.tmp"/>
          <p:cNvPicPr/>
          <p:nvPr/>
        </p:nvPicPr>
        <p:blipFill>
          <a:blip r:embed="rId2"/>
          <a:stretch/>
        </p:blipFill>
        <p:spPr>
          <a:xfrm>
            <a:off x="2924280" y="52560"/>
            <a:ext cx="5313240" cy="544320"/>
          </a:xfrm>
          <a:prstGeom prst="rect">
            <a:avLst/>
          </a:prstGeom>
          <a:ln w="0">
            <a:noFill/>
          </a:ln>
        </p:spPr>
      </p:pic>
      <p:sp>
        <p:nvSpPr>
          <p:cNvPr id="129"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130"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131"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32A9941-2184-4A78-963C-97B0E7EF8B50}" type="slidenum">
              <a:rPr lang="en-US" sz="1200" b="0" strike="noStrike" spc="-1">
                <a:solidFill>
                  <a:srgbClr val="898989"/>
                </a:solidFill>
                <a:latin typeface="Calibri"/>
              </a:rPr>
              <a:t>25</a:t>
            </a:fld>
            <a:endParaRPr lang="en-US" sz="1200" b="0" strike="noStrike" spc="-1">
              <a:solidFill>
                <a:srgbClr val="000000"/>
              </a:solidFill>
              <a:latin typeface="Calibri"/>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TotalTime>
  <Words>2013</Words>
  <Application>Microsoft Office PowerPoint</Application>
  <PresentationFormat>Custom</PresentationFormat>
  <Paragraphs>265</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Office</vt:lpstr>
      <vt:lpstr>Implementation of a Java-Based Virtual Classroom System</vt:lpstr>
      <vt:lpstr>AGENDA</vt:lpstr>
      <vt:lpstr>ABSTRACT</vt:lpstr>
      <vt:lpstr>INTRODUCTION</vt:lpstr>
      <vt:lpstr>PROBLEM STATEMENT</vt:lpstr>
      <vt:lpstr>OBJECTIVES OF THE PROJECT</vt:lpstr>
      <vt:lpstr>LITERATURE REVIEW </vt:lpstr>
      <vt:lpstr>STEPS OF PROPOSED METHODOLOGY</vt:lpstr>
      <vt:lpstr>   PROPOSED METHODOLOGY</vt:lpstr>
      <vt:lpstr>PowerPoint Presentation</vt:lpstr>
      <vt:lpstr>PowerPoint Presentation</vt:lpstr>
      <vt:lpstr>PowerPoint Presentation</vt:lpstr>
      <vt:lpstr>MODULE 1 - USER MANAGEMENT AND AUTHENTICATION</vt:lpstr>
      <vt:lpstr>MODULE 2 - LIVE CLASSROOM AND CONTENT MANAGEMENT</vt:lpstr>
      <vt:lpstr>MODULE 3 - ASSIGNMENT, ASSESSMENT AND REPORTS</vt:lpstr>
      <vt:lpstr>MODULE 4 - Reports And Group Discussion</vt:lpstr>
      <vt:lpstr>PROJECT DEMO </vt:lpstr>
      <vt:lpstr>APPLICATIONS OF THE RESEARCH</vt:lpstr>
      <vt:lpstr>TOOLS USED</vt:lpstr>
      <vt:lpstr>RESULTS AND DISCUSSION</vt:lpstr>
      <vt:lpstr>COMPARISON AND ANALYSIS</vt:lpstr>
      <vt:lpstr>CONCLUSION</vt:lpstr>
      <vt:lpstr>FUTURE ENHANCEMENTS</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Lahari Sri Bellam</dc:creator>
  <cp:lastModifiedBy>Jeevana Reddy Dayyam</cp:lastModifiedBy>
  <cp:revision>6</cp:revision>
  <cp:lastPrinted>2026-08-25T03:58:05Z</cp:lastPrinted>
  <dcterms:modified xsi:type="dcterms:W3CDTF">2026-08-25T05:40:50Z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2025-03-26T04:06:15Z</dcterms:created>
  <dc:creator>win10</dc:creator>
  <dc:description/>
  <dc:language>en-US</dc:language>
  <cp:lastModifiedBy>Admin</cp:lastModifiedBy>
  <dcterms:modified xsi:type="dcterms:W3CDTF">2026-07-21T03:43:00Z</dcterms:modified>
  <cp:revision>17</cp:revision>
  <dc:subject/>
  <dc:title>TITLE OF THE PROJECT</dc:title>
</cp:coreProperties>
</file>